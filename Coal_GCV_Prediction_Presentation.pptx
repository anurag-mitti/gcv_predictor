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64592" cy="3474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241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COAL GROSS CALORIFIC VALUE (GCV) PREDICTION</a:t>
            </a:r>
          </a:p>
          <a:p>
            <a:pPr>
              <a:spcBef>
                <a:spcPts val="1200"/>
              </a:spcBef>
            </a:pPr>
            <a:r>
              <a:rPr sz="2000" b="1">
                <a:solidFill>
                  <a:srgbClr val="38BDF8"/>
                </a:solidFill>
              </a:rPr>
              <a:t>High-Precision Estimation from Proximate Analysis via Bayesian-Tuned Stacking Ensembles</a:t>
            </a:r>
          </a:p>
          <a:p>
            <a:pPr>
              <a:spcBef>
                <a:spcPts val="2000"/>
              </a:spcBef>
            </a:pPr>
            <a:r>
              <a:rPr sz="1400" b="0">
                <a:solidFill>
                  <a:srgbClr val="FFFFFF"/>
                </a:solidFill>
              </a:rPr>
              <a:t>• Optimized Machine Learning Architecture (XGBoost, Random Forest, SVR + Ridge Meta-Learner)
</a:t>
            </a:r>
            <a:r>
              <a:rPr sz="1400" b="0">
                <a:solidFill>
                  <a:srgbClr val="FFFFFF"/>
                </a:solidFill>
              </a:rPr>
              <a:t>• Zero-Leakage Data Hygiene &amp; ASTM D388 Coal Rank Specialization
</a:t>
            </a:r>
            <a:r>
              <a:rPr sz="1400" b="0">
                <a:solidFill>
                  <a:srgbClr val="FFFFFF"/>
                </a:solidFill>
              </a:rPr>
              <a:t>• Model Interpretability via SHAP (SHapley Additive exPlanations)
</a:t>
            </a:r>
            <a:r>
              <a:rPr sz="1400" b="0">
                <a:solidFill>
                  <a:srgbClr val="FFFFFF"/>
                </a:solidFill>
              </a:rPr>
              <a:t>• Live Interactive Web Deployment with Chemical Safety Guardrails
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CONTEXT &amp;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Industrial Motivation &amp; Problem Formulation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B923C"/>
                </a:solidFill>
              </a:rPr>
              <a:t>The Laboratory Bottleneck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FFFFFF"/>
                </a:solidFill>
              </a:rPr>
              <a:t>Standard bomb calorimetry requires oxygen-pressurized combustion bombs, calibrated water jackets, and skilled technicians.
Result: 24–48 hour turnaround times delay critical coal blending decisions in power plants.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745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8BDF8"/>
                </a:solidFill>
              </a:rPr>
              <a:t>The Proximate Advantage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FFFFFF"/>
                </a:solidFill>
              </a:rPr>
              <a:t>Proximate analysis (Moisture, Volatile Matter, Ash) is rapid, inexpensive, and standardized.
Goal: Map proximate parameters directly to GCV with high fidelity, enabling immediate day-of-delivery decision making.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8745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4D399"/>
                </a:solidFill>
              </a:rPr>
              <a:t>Rigorous Target Metrics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FFFFFF"/>
                </a:solidFill>
              </a:rPr>
              <a:t>Target RMSE: &lt;= 200 Kcal/kg
Target CV Score: &lt; 8.0%
Our system surpassed both tolerances, delivering 150.28 Kcal/kg (2.18% CV) overall and 134.18 Kcal/kg (1.91% CV) for bituminous coal.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DATASET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Data Hygiene &amp; Zero-Target-Leakage Protocol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1. Unit Standardization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Raw dataset contains imperial heating values in Btu/lb. Converted to international metric standard:
GCV (Kcal/kg) = Btu / 1.8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4D399"/>
                </a:solidFill>
              </a:rPr>
              <a:t>2. Zero Target Leakage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In amateur ML workflows, imputers often fit across features AND target GCV. We enforced strict isolation: KNN imputation fits ONLY on features [Moisture, VM, Ash].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B923C"/>
                </a:solidFill>
              </a:rPr>
              <a:t>3. Physical Bounds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Enforced physical combustion realism:
• GCV: 2000 to 9000 Kcal/kg
• Standard Ash &lt;= 55%
• Moisture &lt;= 45%, VM &lt;= 60%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4. Mass Balance Integrity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By proximate definition, components sum to 100%:
Fixed Carbon = 100 - (Moisture + VM + Ash)
Retained exclusively samples with Fixed Carbon &gt; 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Domain Feature Engineering: Why Add Fuel Ratio?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B923C"/>
                </a:solidFill>
              </a:rPr>
              <a:t>The Mathematical Limitation of Tree Models: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Decision trees split orthogonally (Xi &gt; c). They cannot naturally compute division between features without hundreds of step-wise splits.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In coal petrology, the Fuel Ratio is defined as:
Fuel Ratio = Fixed Carbon / Volatile Matter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Fuel Ratio is the universally accepted chemical proxy for coal rank (Anthracite vs Bituminous vs Lignite).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By calculating it explicitly prior to training, we feed the model an explicit rank descriptor without requiring extra lab testing.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45920"/>
            <a:ext cx="4846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920240"/>
            <a:ext cx="4297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34D399"/>
                </a:solidFill>
              </a:rPr>
              <a:t>Mass Balance Formulation:</a:t>
            </a:r>
          </a:p>
          <a:p>
            <a:pPr>
              <a:spcBef>
                <a:spcPts val="1200"/>
              </a:spcBef>
            </a:pPr>
            <a:r>
              <a:rPr sz="1600" b="1">
                <a:solidFill>
                  <a:srgbClr val="FFFFFF"/>
                </a:solidFill>
              </a:rPr>
              <a:t>FC = 100 - (Moisture + VM + Ash)
Fuel Ratio = FC / VM</a:t>
            </a:r>
          </a:p>
          <a:p>
            <a:pPr>
              <a:spcBef>
                <a:spcPts val="1200"/>
              </a:spcBef>
            </a:pPr>
            <a:r>
              <a:rPr sz="1300" b="0">
                <a:solidFill>
                  <a:srgbClr val="FFFFFF"/>
                </a:solidFill>
              </a:rPr>
              <a:t>
Impact on Training:
• Drastically simplifies tree depth requirements.
• Enables shallow XGBoost trees (depth 4) to capture coal rank variations.
• Consistently reduces CV error across all folds.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Quantitative Benchmarking: Proving Ensemble Superiority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5943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188720"/>
                <a:gridCol w="1188720"/>
              </a:tblGrid>
              <a:tr h="685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Model Architecture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5-Fold RMSE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5-Fold MAE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R² Score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Support Vector Machine (SVR)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612.45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487.12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0.3541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Decision Tree Regressor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217.30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148.80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0.9168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Random Forest Regressor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154.84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109.12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0.9571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XGBoost Regressor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152.14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107.45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0.9585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Stacked Ensemble (Ours)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150.28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105.97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0.9595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model_comparison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45720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End-to-End System &amp; Stacking Architecture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5912" cy="60960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Bayesian Hyperparameter Optimization via Optuna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8BDF8"/>
                </a:solidFill>
              </a:rPr>
              <a:t>Why Bayesian Optimization over Grid Search?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Grid Search is computationally expensive and samples uninformative parameter regions.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Optuna utilizes Tree-structured Parzen Estimators (TPE) to model the probability distribution of 5-fold CV RMSE.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It concentrates evaluation trials where parameter combinations historically yield lower error.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Optimal parameters saved to models/best_params.json for transparent, reproducible deployment.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4D399"/>
                </a:solidFill>
              </a:rPr>
              <a:t>Tuned Hyperparameter Snapshot:</a:t>
            </a:r>
          </a:p>
          <a:p>
            <a:pPr>
              <a:spcBef>
                <a:spcPts val="1000"/>
              </a:spcBef>
            </a:pPr>
            <a:r>
              <a:rPr sz="1150" b="0">
                <a:solidFill>
                  <a:srgbClr val="FFFFFF"/>
                </a:solidFill>
              </a:rPr>
              <a:t>XGBoost Regressor:
• n_estimators = 300  |  max_depth = 4
• learning_rate = 0.0256  |  subsample = 0.7
• colsample_bytree = 0.8  |  min_child_weight = 2
Random Forest Regressor:
• n_estimators = 200  |  max_depth = 15
• min_samples_leaf = 4  |  max_features = 0.7
Support Vector Regressor (SVR):
• C = 1.292  |  epsilon = 0.0857  |  gamma = 'auto'
Stacking Meta-Learner (Ridge):
• alpha = 0.0105  (Optimal L2 shrinkage)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RANK SPECIALIZATION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Coal Rank Specialization: ASTM D388 Bituminous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34D399"/>
                </a:solidFill>
              </a:rPr>
              <a:t>The Scientific Rationale for Rank Segregation: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• Coal is chemically non-homogeneous across geological ranks. Lignite, Bituminous, and Anthracite exhibit vastly different volatile release kinetics.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• Under ASTM D388, Bituminous Coal is strictly classified by:
• Moist Mineral-Matter-Free Btu &gt;= 10,500 Btu/lb
• Dry MMF Volatile Matter &gt;= 14.0%
• Dry MMF Fixed Carbon &lt; 86.0%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• We isolated 4,494 verified bituminous samples and trained a dedicated model pipeline (src/train_bituminous.py).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• Performance Impact:
• RMSE dropped to 134.18 Kcal/kg (vs 150.28)
• MAE dropped to 96.29 Kcal/kg (sub-100 error!)
• CV Score reached 1.91%</a:t>
            </a:r>
          </a:p>
        </p:txBody>
      </p:sp>
      <p:pic>
        <p:nvPicPr>
          <p:cNvPr id="6" name="Picture 5" descr="actual_vs_predicted_bitumin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37719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MODEL 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Explainable AI: SHAP Chemical Interpretability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38BDF8"/>
                </a:solidFill>
              </a:rPr>
              <a:t>Overcoming the 'Black Box' Critique: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• Engineers rightfully distrust black-box ML models when plant safety and boiler efficiency are at stake.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• We integrated SHAP (SHapley Additive exPlanations) using TreeExplainer to explain individual local predictions.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• Thermodynamic Sanity Check:
• Moisture: Strong negative SHAP driver (water absorbs heat via vaporization at 540 cal/g).
• Ash: Strong negative SHAP driver (inert mineral matter acts as a thermal heat sink).
• Fixed Carbon &amp; Fuel Ratio: Dominant positive drivers (primary energy-producing organic matrix).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• The model's internal feature attribution perfectly validates established combustion thermodynamics.</a:t>
            </a:r>
          </a:p>
        </p:txBody>
      </p:sp>
      <p:pic>
        <p:nvPicPr>
          <p:cNvPr id="6" name="Picture 5" descr="shap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SYSTEM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Interactive Streamlit Deployment &amp; Domain Guardrails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Dual-Tab Architecture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• Tab 1: Universal Model (All coal ranks)
• Tab 2: Bituminous Specialized Model (ASTM D388)
Users seamlessly switch between general coal and high-precision bituminous mode.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B923C"/>
                </a:solidFill>
              </a:rPr>
              <a:t>Domain-Specific Guardrails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• Mass Balance Validation: Flags an immediate error if Moisture + VM + Ash &gt; 100%.
• Ash Limit Rule: Rejects inputs exceeding realistic combustible limits (Ash &gt; 55%).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4D399"/>
                </a:solidFill>
              </a:rPr>
              <a:t>Real-Time Explainability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Every slider adjustment instantly triggers model re-prediction and renders dynamic SHAP waterfall plots explaining the chemical drivers behind that specific prediction.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Production Cloud Ready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Deployed via Streamlit Community Cloud with GitHub CI/CD tracking main branch. Serialized models (&lt;20MB) load in sub-second inference speed.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CONCLUSION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Project Summary &amp; Future Research Directions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34D399"/>
                </a:solidFill>
              </a:rPr>
              <a:t>Final Performance Summary: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FFFFFF"/>
                </a:solidFill>
              </a:rPr>
              <a:t>Universal Stacking Model (All Ranks):
• 5-Fold CV RMSE: 150.28 Kcal/kg
• 5-Fold CV MAE: 105.97 Kcal/kg
• Coefficient of Variation (CV): 2.18%
• Variance Explained (R²): 0.9595
Bituminous Specialized Model (ASTM D388):
• 5-Fold CV RMSE: 134.18 Kcal/kg  (-16.10)
• 5-Fold CV MAE: 96.29 Kcal/kg  (&lt;100!)
• Coefficient of Variation (CV): 1.91%
• Variance Explained (R²): 0.9524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38BDF8"/>
                </a:solidFill>
              </a:rPr>
              <a:t>Future Research &amp; Engineering Scope: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FFFFFF"/>
                </a:solidFill>
              </a:rPr>
              <a:t>1. Dual-Tier Elemental Analysis Mode:
Ingest Ultimate Analysis (Carbon, Hydrogen, Oxygen, Sulfur) when available to drive RMSE below 50 Kcal/kg.
2. Quantile Regression &amp; Uncertainty Bounds:
Predict 90% confidence intervals around GCV values rather than point estimates to inform risk-aware procurement.
3. High-Throughput Batch Processing:
Enable bulk CSV uploads for trainload shipments with automated PDF laboratory certificates.
4. Classical Formula Benchmarking:
Provide direct mathematical comparisons against Goutal and Dulong empirical equations.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