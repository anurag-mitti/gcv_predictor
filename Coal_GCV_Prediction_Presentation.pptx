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164592" cy="31089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COAL GCV PREDICTION SYSTEM</a:t>
            </a:r>
          </a:p>
          <a:p>
            <a:pPr>
              <a:spcBef>
                <a:spcPts val="1400"/>
              </a:spcBef>
            </a:pPr>
            <a:r>
              <a:rPr sz="2100" b="1">
                <a:solidFill>
                  <a:srgbClr val="38BDF8"/>
                </a:solidFill>
              </a:rPr>
              <a:t>Estimating Coal Energy Value from Lab Tests using Machine Learning</a:t>
            </a:r>
          </a:p>
          <a:p>
            <a:pPr>
              <a:spcBef>
                <a:spcPts val="2200"/>
              </a:spcBef>
            </a:pPr>
            <a:r>
              <a:rPr sz="1400">
                <a:solidFill>
                  <a:srgbClr val="FFFFFF"/>
                </a:solidFill>
              </a:rPr>
              <a:t>• Uses simple lab inputs: Moisture, Volatile Matter, and Ash
</a:t>
            </a:r>
            <a:r>
              <a:rPr sz="1400">
                <a:solidFill>
                  <a:srgbClr val="FFFFFF"/>
                </a:solidFill>
              </a:rPr>
              <a:t>• Combines Random Forest, XGBoost, and SVM for high accuracy
</a:t>
            </a:r>
            <a:r>
              <a:rPr sz="1400">
                <a:solidFill>
                  <a:srgbClr val="FFFFFF"/>
                </a:solidFill>
              </a:rPr>
              <a:t>• Tested on real geological coal data with sub-2% CV error score
</a:t>
            </a:r>
            <a:r>
              <a:rPr sz="1400">
                <a:solidFill>
                  <a:srgbClr val="FFFFFF"/>
                </a:solidFill>
              </a:rPr>
              <a:t>• Feature explanation charts showing how each property impacts heating value
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8BDF8"/>
                </a:solidFill>
              </a:rP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Data Preparation &amp; Cleaning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8BDF8"/>
                </a:solidFill>
              </a:rPr>
              <a:t>1. Unit Conversion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FFFFFF"/>
                </a:solidFill>
              </a:rPr>
              <a:t>Raw laboratory data came with heating values in Btu/lb.
Converted to standard metric units:
GCV (Kcal/kg) = Btu / 1.8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4D399"/>
                </a:solidFill>
              </a:rPr>
              <a:t>2. Handling Missing Values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FFFFFF"/>
                </a:solidFill>
              </a:rPr>
              <a:t>Some samples had missing moisture or ash values.
Used a K-Nearest Neighbors (KNN) imputer using only other input features, never using the target value.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923C"/>
                </a:solidFill>
              </a:rPr>
              <a:t>3. Removing Bad Data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FFFFFF"/>
                </a:solidFill>
              </a:rPr>
              <a:t>Removed obvious measurement errors and impossible samples:
• Energy below 2000 or above 9000 Kcal/kg
• Ash above 55% (unusable for fuel)
• Negative moisture or volatile matter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8BDF8"/>
                </a:solidFill>
              </a:rPr>
              <a:t>4. Mass Balance Check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FFFFFF"/>
                </a:solidFill>
              </a:rPr>
              <a:t>Moisture + Volatiles + Ash + Carbon must total 100%:
Fixed Carbon = 100 - (Moisture + VM + Ash)
Removed any samples where this total was broken.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8BDF8"/>
                </a:solidFill>
              </a:rPr>
              <a:t>FEATURE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Feature Calculation: Why Add Fuel Ratio?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B923C"/>
                </a:solidFill>
              </a:rPr>
              <a:t>Why ML Models Need Help With Division: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FFFFFF"/>
                </a:solidFill>
              </a:rPr>
              <a:t>• Decision trees (XGBoost, Random Forest) split data using simple 'if greater than' rules. They cannot naturally divide two numbers without hundreds of complex splits.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FFFFFF"/>
                </a:solidFill>
              </a:rPr>
              <a:t>• In coal chemistry, Fuel Ratio is a standard formula:
Fuel Ratio = Fixed Carbon / Volatile Matter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FFFFFF"/>
                </a:solidFill>
              </a:rPr>
              <a:t>• Fuel Ratio tells you what kind of coal you have (Lignite vs Bituminous vs Anthracite).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FFFFFF"/>
                </a:solidFill>
              </a:rPr>
              <a:t>• By doing the division for the model beforehand, the trees understand coal rank immediately without needing extra depth.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45920"/>
            <a:ext cx="4846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920240"/>
            <a:ext cx="4297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4D399"/>
                </a:solidFill>
              </a:rPr>
              <a:t>Formulas Added to the Data: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FFFFFF"/>
                </a:solidFill>
              </a:rPr>
              <a:t>1. Fixed Carbon = 100 - (Moisture + VM + Ash)
2. Fuel Ratio = Fixed Carbon / VM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FFFFFF"/>
                </a:solidFill>
              </a:rPr>
              <a:t>
Why this helped:
• Keeps models simpler and faster
• Lets shallow trees reach lower errors
• Directly reflects real coal combustion chemistry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8BDF8"/>
                </a:solidFill>
              </a:rPr>
              <a:t>MODEL BENCHMARKING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Testing Different Models (5-Fold Cross Validation)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60350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1005840"/>
                <a:gridCol w="1005840"/>
                <a:gridCol w="914400"/>
              </a:tblGrid>
              <a:tr h="6858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CV Score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R² Score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Support Vector (SVR)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612.45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487.12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8.89%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0.35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Single Decision Tree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217.30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148.80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3.15%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0.92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154.84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109.12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2.25%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0.95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XGBoost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152.14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107.45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2.21%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0.96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Combined Ensemble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150.28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105.97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2.18%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0.96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model_comparison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645920"/>
            <a:ext cx="4572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8BDF8"/>
                </a:solidFill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System Architecture: How the Models Work Together</a:t>
            </a:r>
          </a:p>
        </p:txBody>
      </p:sp>
      <p:pic>
        <p:nvPicPr>
          <p:cNvPr id="5" name="Picture 4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725912" cy="50916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8BDF8"/>
                </a:solidFill>
              </a:rPr>
              <a:t>MODEL 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Tuning the Models (Finding the Best Parameters)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How We Tuned the Parameters: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FFFFFF"/>
                </a:solidFill>
              </a:rPr>
              <a:t>• Instead of guessing numbers, we used an automated tuning tool called Optuna.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FFFFFF"/>
                </a:solidFill>
              </a:rPr>
              <a:t>• Optuna tests different combinations of tree depths, number of trees, and learning rates across 5 cross-validation folds.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FFFFFF"/>
                </a:solidFill>
              </a:rPr>
              <a:t>• It focuses on parameter values that consistently reduce prediction error.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FFFFFF"/>
                </a:solidFill>
              </a:rPr>
              <a:t>• For XGBoost, it selected a tree depth of 4 (shallow trees). This prevents the model from memorizing random lab noise and helps it generalize to new samples.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4D399"/>
                </a:solidFill>
              </a:rPr>
              <a:t>Selected Settings: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38BDF8"/>
                </a:solidFill>
              </a:rPr>
              <a:t>XGBoost: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• 300 trees | Max depth: 4 (prevents overfitting)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• Learning rate: 0.025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38BDF8"/>
                </a:solidFill>
              </a:rPr>
              <a:t>Random Forest: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• 200 trees | Max depth: 15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• Min samples per leaf: 4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38BDF8"/>
                </a:solidFill>
              </a:rPr>
              <a:t>Support Vector Machine (SVR):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• Normalized inputs &amp; target for numerical stability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38BDF8"/>
                </a:solidFill>
              </a:rPr>
              <a:t>Final Blending Model (Ridge):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• Automatically assigns optimal weights to each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8BDF8"/>
                </a:solidFill>
              </a:rPr>
              <a:t>COAL RANK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Specialized Model for Bituminous Coal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4D399"/>
                </a:solidFill>
              </a:rPr>
              <a:t>Why Train a Separate Model?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FFFFFF"/>
                </a:solidFill>
              </a:rPr>
              <a:t>• Different types of coal burn differently. High-moisture brown coal (lignite) behaves differently than high-rank black coal (bituminous).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FFFFFF"/>
                </a:solidFill>
              </a:rPr>
              <a:t>• We filtered 4,494 samples of Bituminous coal using official ASTM D388 laboratory standards.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FFFFFF"/>
                </a:solidFill>
              </a:rPr>
              <a:t>• Training a specialized model on just this group produced significantly higher accuracy: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FFFFFF"/>
                </a:solidFill>
              </a:rPr>
              <a:t>• • Error dropped from 150 to 134 Kcal/kg
• Average absolute error dropped below 100 Kcal/kg (96 Kcal/kg)
• CV Score reached an exceptional 1.91%</a:t>
            </a:r>
          </a:p>
        </p:txBody>
      </p:sp>
      <p:pic>
        <p:nvPicPr>
          <p:cNvPr id="6" name="Picture 5" descr="actual_vs_predicted_bitumin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8BDF8"/>
                </a:solidFill>
              </a:rPr>
              <a:t>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Explaining Predictions (No Black Box)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Why Does the Model Guess What It Does?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FFFFFF"/>
                </a:solidFill>
              </a:rPr>
              <a:t>• In industry, engineers need to understand why a model makes a prediction rather than just trusting a black-box number.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FFFFFF"/>
                </a:solidFill>
              </a:rPr>
              <a:t>• We integrated SHAP, a method that breaks down how much each chemical feature contributed to the final score.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FFFFFF"/>
                </a:solidFill>
              </a:rPr>
              <a:t>• The model's reasoning matches real chemistry:
• Moisture pulls energy down (it takes heat to boil water)
• Ash pulls energy down (rock/dirt does not burn)
• Carbon and Fuel Ratio push energy up (actual fuel)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FFFFFF"/>
                </a:solidFill>
              </a:rPr>
              <a:t>• The graph on the right shows a sample prediction and how each feature pushed the value up (red) or down (blue).</a:t>
            </a:r>
          </a:p>
        </p:txBody>
      </p:sp>
      <p:pic>
        <p:nvPicPr>
          <p:cNvPr id="6" name="Picture 5" descr="shap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8BDF8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Summary of Key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1645920"/>
            <a:ext cx="8165592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1828800"/>
            <a:ext cx="761695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4D399"/>
                </a:solidFill>
              </a:rPr>
              <a:t>Final Performance Across 5-Fold Cross Validation:</a:t>
            </a:r>
          </a:p>
          <a:p>
            <a:pPr>
              <a:spcBef>
                <a:spcPts val="1400"/>
              </a:spcBef>
            </a:pPr>
            <a:r>
              <a:rPr sz="1350" b="1">
                <a:solidFill>
                  <a:srgbClr val="38BDF8"/>
                </a:solidFill>
              </a:rPr>
              <a:t>Universal Model (All Coal Ranks):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>• Average Error (RMSE): 150.28 Kcal/kg  (Target was &lt;= 200 Kcal/kg)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>• Absolute Error (MAE): 105.97 Kcal/kg</a:t>
            </a:r>
          </a:p>
          <a:p>
            <a:pPr>
              <a:spcBef>
                <a:spcPts val="400"/>
              </a:spcBef>
            </a:pPr>
            <a:r>
              <a:rPr sz="1350" b="1">
                <a:solidFill>
                  <a:srgbClr val="FB923C"/>
                </a:solidFill>
              </a:rPr>
              <a:t>• CV Score (Coefficient of Variation): 2.18%  (Target was &lt; 8.0%)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>• Accuracy Score (R²): 0.96</a:t>
            </a:r>
          </a:p>
          <a:p>
            <a:pPr>
              <a:spcBef>
                <a:spcPts val="1600"/>
              </a:spcBef>
            </a:pPr>
            <a:r>
              <a:rPr sz="1350" b="1">
                <a:solidFill>
                  <a:srgbClr val="34D399"/>
                </a:solidFill>
              </a:rPr>
              <a:t>Specialized Bituminous Coal Model: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>• Average Error (RMSE): 134.18 Kcal/kg  (-16.10 Kcal/kg improvement)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>• Absolute Error (MAE): 96.29 Kcal/kg  (Sub-100 error margin)</a:t>
            </a:r>
          </a:p>
          <a:p>
            <a:pPr>
              <a:spcBef>
                <a:spcPts val="400"/>
              </a:spcBef>
            </a:pPr>
            <a:r>
              <a:rPr sz="1350" b="1">
                <a:solidFill>
                  <a:srgbClr val="34D399"/>
                </a:solidFill>
              </a:rPr>
              <a:t>• CV Score (Coefficient of Variation): 1.91%  (Sub-2% precision)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>• Accuracy Score (R²): 0.95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