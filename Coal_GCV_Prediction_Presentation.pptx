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164592" cy="3108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COAL GCV PREDICTION SYSTEM</a:t>
            </a:r>
          </a:p>
          <a:p>
            <a:pPr>
              <a:spcBef>
                <a:spcPts val="1400"/>
              </a:spcBef>
            </a:pPr>
            <a:r>
              <a:rPr sz="2100" b="1">
                <a:solidFill>
                  <a:srgbClr val="38BDF8"/>
                </a:solidFill>
              </a:rPr>
              <a:t>Estimating Coal Energy Value from Lab Tests using Machine Learning</a:t>
            </a:r>
          </a:p>
          <a:p>
            <a:pPr>
              <a:spcBef>
                <a:spcPts val="2200"/>
              </a:spcBef>
            </a:pPr>
            <a:r>
              <a:rPr sz="1400">
                <a:solidFill>
                  <a:srgbClr val="FFFFFF"/>
                </a:solidFill>
              </a:rPr>
              <a:t>• Uses simple lab inputs: Moisture, Volatile Matter, and Ash
</a:t>
            </a:r>
            <a:r>
              <a:rPr sz="1400">
                <a:solidFill>
                  <a:srgbClr val="FFFFFF"/>
                </a:solidFill>
              </a:rPr>
              <a:t>• Combines Random Forest, XGBoost, and SVM for high accuracy
</a:t>
            </a:r>
            <a:r>
              <a:rPr sz="1400">
                <a:solidFill>
                  <a:srgbClr val="FFFFFF"/>
                </a:solidFill>
              </a:rPr>
              <a:t>• Tested on real geological coal data with sub-2% error
</a:t>
            </a:r>
            <a:r>
              <a:rPr sz="1400">
                <a:solidFill>
                  <a:srgbClr val="FFFFFF"/>
                </a:solidFill>
              </a:rPr>
              <a:t>• Web app with interactive charts showing why the model makes each prediction
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Problem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B923C"/>
                </a:solidFill>
              </a:rPr>
              <a:t>The Current Problem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FFFFFF"/>
                </a:solidFill>
              </a:rPr>
              <a:t>Measuring Gross Calorific Value (GCV) experimentally in a bomb calorimeter is slow and requires expensive equipment.
Lab results often take 1 to 2 days, delaying decisions in power plants and coal trading.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The Solution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FFFFFF"/>
                </a:solidFill>
              </a:rPr>
              <a:t>Proximate analysis (Moisture, Volatile Matter, and Ash) is quick, cheap, and routine.
We train Machine Learning models to calculate GCV accurately from these basic numbers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8745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4D399"/>
                </a:solidFill>
              </a:rPr>
              <a:t>Accuracy Target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FFFFFF"/>
                </a:solidFill>
              </a:rPr>
              <a:t>Industry Target: RMSE under 200 Kcal/kg (Error under 8%).
Our Results:
• Overall model: 150 Kcal/kg (2.18% error)
• Bituminous model: 134 Kcal/kg (1.91% error)
Both easily beat the target.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 Preparation &amp; Cleaning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1. Unit Conversion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Raw laboratory data came with heating values in Btu/lb.
Converted to standard metric units:
GCV (Kcal/kg) = Btu / 1.8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2. Handling Missing Values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Some samples had missing moisture or ash values.
Used a K-Nearest Neighbors (KNN) imputer using only other input features, never using the target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B923C"/>
                </a:solidFill>
              </a:rPr>
              <a:t>3. Removing Bad Data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Removed obvious measurement errors and impossible samples:
• Energy below 2000 or above 9000 Kcal/kg
• Ash above 55% (unusable for fuel)
• Negative moisture or volatile matter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4. Mass Balance Check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Moisture + Volatiles + Ash + Carbon must total 100%:
Fixed Carbon = 100 - (Moisture + VM + Ash)
Removed any samples where this total was broken.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FEATURE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Feature Calculation: Why Add Fuel Ratio?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B923C"/>
                </a:solidFill>
              </a:rPr>
              <a:t>Why ML Models Need Help With Division: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Decision trees (XGBoost, Random Forest) split data using simple 'if greater than' rules. They cannot naturally divide two numbers without hundreds of complex splits.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In coal chemistry, Fuel Ratio is a standard formula:
Fuel Ratio = Fixed Carbon / Volatile Matter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Fuel Ratio tells you what kind of coal you have (Lignite vs Bituminous vs Anthracite).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By doing the division for the model beforehand, the trees understand coal rank immediately without needing extra depth.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45920"/>
            <a:ext cx="48463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297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4D399"/>
                </a:solidFill>
              </a:rPr>
              <a:t>Formulas Added to the Data: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</a:rPr>
              <a:t>1. Fixed Carbon = 100 - (Moisture + VM + Ash)
2. Fuel Ratio = Fixed Carbon / VM</a:t>
            </a:r>
          </a:p>
          <a:p>
            <a:pPr>
              <a:spcBef>
                <a:spcPts val="1200"/>
              </a:spcBef>
            </a:pPr>
            <a:r>
              <a:rPr sz="1300" b="0">
                <a:solidFill>
                  <a:srgbClr val="FFFFFF"/>
                </a:solidFill>
              </a:rPr>
              <a:t>
Why this helped:
• Keeps models simpler and faster
• Lets shallow trees reach lower errors
• Directly reflects real coal combustion chemistry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MODEL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Testing Different Models (5-Fold Cross Validation)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5943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188720"/>
              </a:tblGrid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Average Error (RMSE)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Absolute Error (MAE)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Accuracy (R²)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Support Vector Machine (SVR)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612.45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487.12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0.35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Single Decision Tree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217.30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148.80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154.84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109.12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152.14 Kcal/kg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107.45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0.96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Combined Ensemble (Ours)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150.28 Kcal/kg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105.97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0.96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model_comparis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45720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Architecture: How the Models Work Together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725912" cy="50916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MODEL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Tuning the Models (Finding the Best Parameters)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How We Tuned the Parameters: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Instead of guessing numbers, we used an automated tuning tool called Optuna.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Optuna tests different combinations of tree depths, number of trees, and learning rates across 5 cross-validation folds.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It focuses on parameter values that consistently reduce prediction error.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For XGBoost, it selected a tree depth of 4 (shallow trees). This prevents the model from memorizing random lab noise and helps it generalize to new samples.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Selected Settings:</a:t>
            </a:r>
          </a:p>
          <a:p>
            <a:pPr>
              <a:spcBef>
                <a:spcPts val="1000"/>
              </a:spcBef>
            </a:pPr>
            <a:r>
              <a:rPr sz="1150" b="0">
                <a:solidFill>
                  <a:srgbClr val="FFFFFF"/>
                </a:solidFill>
              </a:rPr>
              <a:t>XGBoost:
• Number of trees: 300
• Maximum depth: 4 (shallow trees prevent overfitting)
• Learning rate: 0.025
Random Forest:
• Number of trees: 200
• Maximum depth: 15
• Min samples per leaf: 4
Support Vector Machine:
• Uses normalized data so large GCV numbers don't break it
Final Blending Model:
• Ridge Regression assigning weights to each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COAL 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Specialized Model for Bituminous Coal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4D399"/>
                </a:solidFill>
              </a:rPr>
              <a:t>Why Train a Separate Model?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Different types of coal burn differently. High-moisture brown coal (lignite) behaves differently than high-rank black coal (bituminous).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We filtered 4,494 samples of Bituminous coal using official ASTM D388 laboratory standards.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Training a specialized model on just this group produced significantly higher accuracy: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FFFFFF"/>
                </a:solidFill>
              </a:rPr>
              <a:t>• • Error dropped from 150 to 134 Kcal/kg
• Average absolute error dropped below 100 Kcal/kg (96 Kcal/kg)
• Error rate reached 1.91%</a:t>
            </a:r>
          </a:p>
        </p:txBody>
      </p:sp>
      <p:pic>
        <p:nvPicPr>
          <p:cNvPr id="6" name="Picture 5" descr="actual_vs_predicted_bitumin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37719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Explaining Predictions (No Black Box)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Why Does the Model Guess What It Does?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In industry, engineers need to understand why a model makes a prediction rather than just trusting a black-box number.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We integrated SHAP, a method that breaks down how much each chemical feature contributed to the final score.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The model's reasoning matches real chemistry:
• Moisture pulls energy down (it takes heat to boil water)
• Ash pulls energy down (rock/dirt does not burn)
• Carbon and Fuel Ratio push energy up (actual fuel)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FFFFFF"/>
                </a:solidFill>
              </a:rPr>
              <a:t>• The graph on the right shows a sample prediction and how each feature pushed the value up (red) or down (blue).</a:t>
            </a:r>
          </a:p>
        </p:txBody>
      </p:sp>
      <p:pic>
        <p:nvPicPr>
          <p:cNvPr id="6" name="Picture 5" descr="sha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Interactive Web App &amp; Safety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Two Dedicated Tabs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Tab 1: Universal Model for all coal types
• Tab 2: Specialized Bituminous Model
Users can test any coal sample or switch to the specialized model for higher precision.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B923C"/>
                </a:solidFill>
              </a:rPr>
              <a:t>Safety &amp; Validation Checks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• Mass Balance Check: If Moisture + VM + Ash exceeds 100%, the app warns the user.
• Ash Limit Check: Rejects impossible samples where Ash is greater than 55%.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4D399"/>
                </a:solidFill>
              </a:rPr>
              <a:t>Instant Visual Explanations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Whenever a slider is moved, the app recalculates the prediction instantly and draws a SHAP graph showing which feature had the biggest impact.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</a:rPr>
              <a:t>Live Web Deployment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FFFFFF"/>
                </a:solidFill>
              </a:rPr>
              <a:t>The application is deployed on Streamlit Cloud and connected to our GitHub repository for easy sharing and testing from any browser.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8BDF8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Summary &amp; Future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4D399"/>
                </a:solidFill>
              </a:rPr>
              <a:t>Key Results: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</a:rPr>
              <a:t>Universal Model (All Coal):
• Average Error (RMSE): 150.28 Kcal/kg
• Absolute Error (MAE): 105.97 Kcal/kg
• Error Percentage: 2.18% (target was &lt; 8%)
• Accuracy (R²): 0.96
Bituminous Model:
• Average Error (RMSE): 134.18 Kcal/kg
• Absolute Error (MAE): 96.29 Kcal/kg
• Error Percentage: 1.91%
• Accuracy (R²): 0.95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8BDF8"/>
                </a:solidFill>
              </a:rPr>
              <a:t>What Can Be Added Next: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FFFFFF"/>
                </a:solidFill>
              </a:rPr>
              <a:t>1. Ultimate Analysis Mode:
If elemental test numbers are available (Carbon, Hydrogen, Oxygen, Sulfur), adding them can bring error under 50 Kcal/kg.
2. Prediction Ranges (Confidence Intervals):
Give a range (e.g. 6800 ± 80 Kcal/kg) instead of a single number to show certainty.
3. Bulk Upload:
Add a button in the web app to upload a full CSV with thousands of samples at once.
4. Formula Comparison:
Compare model accuracy directly with classical Dulong and Goutal empirical formulas.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