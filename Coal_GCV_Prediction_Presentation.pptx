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professor. Today I am presenting our end-to-end system for estimating coal Gross Calorific Value purely from proximate analysis. In industrial power plants and metallurgical facilities, bomb calorimetry tests are expensive, labor-intensive, and cause operational bottlenecks. Our objective was to develop an academically rigorous machine learning framework that delivers sub-2% error rates using only rapid, low-cost proximate lab tests.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measuring calorific value experimentally in a bomb calorimeter is slow and costly. In contrast, proximate analysis takes minimal equipment. Thermal power plants need rapid GCV estimation to adjust boiler firing and coal blending. The accepted industry benchmark is an RMSE under 200 Kcal/kg and a coefficient of variation under 8%. As you will see, our pipeline comfortably beat both criteria.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key scientific priority was ensuring zero data leakage. In many published papers, researchers fit imputers across the entire dataset including the target column, which artificially inflates validation scores. We ensured our KNN imputer operated strictly in feature space. We also converted Btu to Kcal/kg, filtered out unphysical entries, and enforced the fundamental proximate mass balance constraint.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you might wonder why we introduced the Fuel Ratio feature. Random Forest and XGBoost are powerful, but tree splits are orthogonal—they are fundamentally weak at division. In coal geology, fixed carbon divided by volatile matter is the classic Fuel Ratio that determines coal rank. Computing this explicitly allowed our trees to distinguish high-rank from low-rank coal immediately at early nodes, keeping the trees shallow and preventing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direct empirical comparison. Standalone SVR struggled significantly because the wide variance of GCV destabilizes standard hyperplane optimization. A single Decision Tree suffered from high split variance with an RMSE of 217. While standalone Random Forest and XGBoost performed very well at around 152 to 154 RMSE, our Stacking Ensemble blended their distinct inductive biases, achieving the lowest RMSE of 150.28 Kcal/kg and highest R-squared of 0.9595.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details our Stacking architecture. Notice our base models include both tree-based algorithms and a kernel-based SVR. SVR normally fails on raw GCV because the numbers are around 6,000 to 8,000. We solved this by using a TransformedTargetRegressor that scales both the features and the GCV target during cross-validation. The out-of-fold predictions from all three models are then fed to a Ridge meta-learner that assigns optimal blending weights.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fine-tune our models, we wrote a dedicated script using Optuna. Rather than guessing parameters or using an exhaustive grid search, Optuna builds a probabilistic surrogate model using Tree-structured Parzen Estimators. Notice that the optimizer chose a shallow tree depth of 4 for XGBoost and a min_samples_leaf of 4 for Random Forest. This regularized the models so they generalize smoothly across unseen coal samples rather than memorizing laboratory noise.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Professor, one key insight is that coal is not a single uniform material. Combining high-moisture lignite with low-volatile anthracite in one model introduces unnecessary variance. By following the ASTM D388 standard classification to isolate the 4,494 bituminous samples, our specialized model dropped RMSE from 150 down to 134 Kcal/kg, and mean absolute error went under 100 Kcal/kg. The diagnostic plot on the right shows how tightly the predictions hug the ideal diagonal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ensure our model is trustworthy for plant operators, we integrated SHAP explainability. For any given coal sample, the model outputs a waterfall plot showing how each component influenced the prediction from the baseline mean. As expected thermodynamically, moisture and ash pull the prediction down because water vaporization and inert minerals consume heat. Fixed carbon and fuel ratio push the prediction up. This proves the AI is learning authentic chemistry rather than statistical artifacts.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deployed this entire system as an interactive web dashboard in Streamlit. It includes built-in domain validation: if someone inputs numbers that violate the 100% mass balance or enters an ash percentage above 55%, the system immediately halts and warns the user. The dashboard has two tabs—one for universal coal and one for bituminous—giving instant predictions and interactive SHAP plots.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our machine learning pipeline delivers sub-2% error margins, surpassing the 8% industrial threshold. For future work, we plan to incorporate ultimate analysis for even tighter accuracy, as well as quantile regression to give plant operators formal confidence intervals for risk-aware procurement. Thank you for your time, professor. I welcome any questions or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1645920"/>
            <a:ext cx="137160" cy="3474720"/>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645920"/>
            <a:ext cx="10058400" cy="3474720"/>
          </a:xfrm>
          <a:prstGeom prst="rect">
            <a:avLst/>
          </a:prstGeom>
          <a:noFill/>
        </p:spPr>
        <p:txBody>
          <a:bodyPr wrap="square">
            <a:spAutoFit/>
          </a:bodyPr>
          <a:lstStyle/>
          <a:p>
            <a:pPr>
              <a:defRPr sz="3600" b="1">
                <a:solidFill>
                  <a:srgbClr val="F8FAFC"/>
                </a:solidFill>
              </a:defRPr>
            </a:pPr>
            <a:r>
              <a:t>COAL GROSS CALORIFIC VALUE (GCV) PREDICTION</a:t>
            </a:r>
          </a:p>
          <a:p>
            <a:pPr>
              <a:spcBef>
                <a:spcPts val="1200"/>
              </a:spcBef>
              <a:defRPr sz="2000">
                <a:solidFill>
                  <a:srgbClr val="38BDF8"/>
                </a:solidFill>
              </a:defRPr>
            </a:pPr>
            <a:r>
              <a:t>High-Precision Estimation from Proximate Analysis via Bayesian-Tuned Stacking Ensembles</a:t>
            </a:r>
          </a:p>
          <a:p>
            <a:br/>
            <a:pPr>
              <a:spcBef>
                <a:spcPts val="2000"/>
              </a:spcBef>
              <a:defRPr sz="1400">
                <a:solidFill>
                  <a:srgbClr val="94A3B8"/>
                </a:solidFill>
              </a:defRPr>
            </a:pPr>
            <a:r>
              <a:t>• Optimized Machine Learning Architecture (XGBoost, Random Forest, SVR + Ridge Meta-Learner)</a:t>
            </a:r>
            <a:br/>
            <a:r>
              <a:t>• Zero-Leakage Data Hygiene &amp; ASTM D388 Coal Rank Specialization</a:t>
            </a:r>
            <a:br/>
            <a:r>
              <a:t>• Model Interpretability via SHAP (SHapley Additive exPlanations)</a:t>
            </a:r>
            <a:br/>
            <a:r>
              <a:t>• Live Interactive Web Deployment with Chemical Guardrails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CONTEXT &amp; OBJECTIVE</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Industrial Motivation &amp; Problem Formulation</a:t>
            </a:r>
          </a:p>
        </p:txBody>
      </p:sp>
      <p:sp>
        <p:nvSpPr>
          <p:cNvPr id="5" name="Rounded Rectangle 4"/>
          <p:cNvSpPr/>
          <p:nvPr/>
        </p:nvSpPr>
        <p:spPr>
          <a:xfrm>
            <a:off x="731520" y="1645920"/>
            <a:ext cx="3383280" cy="4389120"/>
          </a:xfrm>
          <a:prstGeom prst="roundRect">
            <a:avLst/>
          </a:prstGeom>
          <a:solidFill>
            <a:srgbClr val="1E293B"/>
          </a:solidFill>
          <a:ln w="1905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3017520" cy="4023360"/>
          </a:xfrm>
          <a:prstGeom prst="rect">
            <a:avLst/>
          </a:prstGeom>
          <a:noFill/>
        </p:spPr>
        <p:txBody>
          <a:bodyPr wrap="square">
            <a:spAutoFit/>
          </a:bodyPr>
          <a:lstStyle/>
          <a:p>
            <a:pPr>
              <a:defRPr sz="1800" b="1">
                <a:solidFill>
                  <a:srgbClr val="FB923C"/>
                </a:solidFill>
              </a:defRPr>
            </a:pPr>
            <a:r>
              <a:t>The Laboratory Bottleneck</a:t>
            </a:r>
          </a:p>
          <a:p>
            <a:pPr>
              <a:spcBef>
                <a:spcPts val="1400"/>
              </a:spcBef>
              <a:defRPr sz="1300">
                <a:solidFill>
                  <a:srgbClr val="F8FAFC"/>
                </a:solidFill>
              </a:defRPr>
            </a:pPr>
            <a:r>
              <a:t>Standard bomb calorimetry requires oxygen-pressurized combustion bombs, calibrated water jackets, and skilled technicians.</a:t>
            </a:r>
            <a:br/>
            <a:br/>
            <a:r>
              <a:t>Result: 24–48 hour turnaround times delay critical coal blending decisions in power plants.</a:t>
            </a:r>
          </a:p>
        </p:txBody>
      </p:sp>
      <p:sp>
        <p:nvSpPr>
          <p:cNvPr id="7" name="Rounded Rectangle 6"/>
          <p:cNvSpPr/>
          <p:nvPr/>
        </p:nvSpPr>
        <p:spPr>
          <a:xfrm>
            <a:off x="4297680" y="1645920"/>
            <a:ext cx="3383280" cy="43891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017520" cy="4023360"/>
          </a:xfrm>
          <a:prstGeom prst="rect">
            <a:avLst/>
          </a:prstGeom>
          <a:noFill/>
        </p:spPr>
        <p:txBody>
          <a:bodyPr wrap="square">
            <a:spAutoFit/>
          </a:bodyPr>
          <a:lstStyle/>
          <a:p>
            <a:pPr>
              <a:defRPr sz="1800" b="1">
                <a:solidFill>
                  <a:srgbClr val="38BDF8"/>
                </a:solidFill>
              </a:defRPr>
            </a:pPr>
            <a:r>
              <a:t>The Proximate Advantage</a:t>
            </a:r>
          </a:p>
          <a:p>
            <a:pPr>
              <a:spcBef>
                <a:spcPts val="1400"/>
              </a:spcBef>
              <a:defRPr sz="1300">
                <a:solidFill>
                  <a:srgbClr val="F8FAFC"/>
                </a:solidFill>
              </a:defRPr>
            </a:pPr>
            <a:r>
              <a:t>Proximate analysis (Moisture, Volatile Matter, Ash) is rapid, inexpensive, and standardized.</a:t>
            </a:r>
            <a:br/>
            <a:br/>
            <a:r>
              <a:t>Goal: Map proximate parameters directly to GCV with high fidelity, enabling immediate day-of-delivery decision making.</a:t>
            </a:r>
          </a:p>
        </p:txBody>
      </p:sp>
      <p:sp>
        <p:nvSpPr>
          <p:cNvPr id="9" name="Rounded Rectangle 8"/>
          <p:cNvSpPr/>
          <p:nvPr/>
        </p:nvSpPr>
        <p:spPr>
          <a:xfrm>
            <a:off x="7863840" y="1645920"/>
            <a:ext cx="3383280" cy="438912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828800"/>
            <a:ext cx="3017520" cy="4023360"/>
          </a:xfrm>
          <a:prstGeom prst="rect">
            <a:avLst/>
          </a:prstGeom>
          <a:noFill/>
        </p:spPr>
        <p:txBody>
          <a:bodyPr wrap="square">
            <a:spAutoFit/>
          </a:bodyPr>
          <a:lstStyle/>
          <a:p>
            <a:pPr>
              <a:defRPr sz="1800" b="1">
                <a:solidFill>
                  <a:srgbClr val="34D399"/>
                </a:solidFill>
              </a:defRPr>
            </a:pPr>
            <a:r>
              <a:t>Rigorous Target Metrics</a:t>
            </a:r>
          </a:p>
          <a:p>
            <a:pPr>
              <a:spcBef>
                <a:spcPts val="1400"/>
              </a:spcBef>
              <a:defRPr sz="1300">
                <a:solidFill>
                  <a:srgbClr val="F8FAFC"/>
                </a:solidFill>
              </a:defRPr>
            </a:pPr>
            <a:r>
              <a:t>Target RMSE: &lt;= 200 Kcal/kg</a:t>
            </a:r>
            <a:br/>
            <a:r>
              <a:t>Target CV Score: &lt; 8.0%</a:t>
            </a:r>
            <a:br/>
            <a:br/>
            <a:r>
              <a:t>Our system surpassed both tolerances, delivering 150.28 Kcal/kg (2.18% CV) overall and 134.18 Kcal/kg (1.91% CV) for bituminous coal.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DATASET &amp; PREPROCESSING</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Data Hygiene &amp; Zero-Target-Leakage Protocol</a:t>
            </a:r>
          </a:p>
        </p:txBody>
      </p:sp>
      <p:sp>
        <p:nvSpPr>
          <p:cNvPr id="5" name="Rounded Rectangle 4"/>
          <p:cNvSpPr/>
          <p:nvPr/>
        </p:nvSpPr>
        <p:spPr>
          <a:xfrm>
            <a:off x="731520" y="1645920"/>
            <a:ext cx="5120640" cy="201168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1737360"/>
          </a:xfrm>
          <a:prstGeom prst="rect">
            <a:avLst/>
          </a:prstGeom>
          <a:noFill/>
        </p:spPr>
        <p:txBody>
          <a:bodyPr wrap="square">
            <a:spAutoFit/>
          </a:bodyPr>
          <a:lstStyle/>
          <a:p>
            <a:pPr>
              <a:defRPr sz="1600" b="1">
                <a:solidFill>
                  <a:srgbClr val="38BDF8"/>
                </a:solidFill>
              </a:defRPr>
            </a:pPr>
            <a:r>
              <a:t>1. Unit Standardization</a:t>
            </a:r>
          </a:p>
          <a:p>
            <a:pPr>
              <a:spcBef>
                <a:spcPts val="800"/>
              </a:spcBef>
              <a:defRPr sz="1200">
                <a:solidFill>
                  <a:srgbClr val="F8FAFC"/>
                </a:solidFill>
              </a:defRPr>
            </a:pPr>
            <a:r>
              <a:t>Raw dataset contains imperial heating values in Btu/lb. Converted to international metric standard:</a:t>
            </a:r>
            <a:br/>
            <a:r>
              <a:t>GCV (Kcal/kg) = Btu / 1.8</a:t>
            </a:r>
          </a:p>
        </p:txBody>
      </p:sp>
      <p:sp>
        <p:nvSpPr>
          <p:cNvPr id="7" name="Rounded Rectangle 6"/>
          <p:cNvSpPr/>
          <p:nvPr/>
        </p:nvSpPr>
        <p:spPr>
          <a:xfrm>
            <a:off x="6126480" y="1645920"/>
            <a:ext cx="5120640" cy="2011680"/>
          </a:xfrm>
          <a:prstGeom prst="roundRect">
            <a:avLst/>
          </a:prstGeom>
          <a:solidFill>
            <a:srgbClr val="1E293B"/>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83080"/>
            <a:ext cx="4754880" cy="1737360"/>
          </a:xfrm>
          <a:prstGeom prst="rect">
            <a:avLst/>
          </a:prstGeom>
          <a:noFill/>
        </p:spPr>
        <p:txBody>
          <a:bodyPr wrap="square">
            <a:spAutoFit/>
          </a:bodyPr>
          <a:lstStyle/>
          <a:p>
            <a:pPr>
              <a:defRPr sz="1600" b="1">
                <a:solidFill>
                  <a:srgbClr val="34D399"/>
                </a:solidFill>
              </a:defRPr>
            </a:pPr>
            <a:r>
              <a:t>2. Zero Target Leakage</a:t>
            </a:r>
          </a:p>
          <a:p>
            <a:pPr>
              <a:spcBef>
                <a:spcPts val="800"/>
              </a:spcBef>
              <a:defRPr sz="1200">
                <a:solidFill>
                  <a:srgbClr val="F8FAFC"/>
                </a:solidFill>
              </a:defRPr>
            </a:pPr>
            <a:r>
              <a:t>In amateur ML workflows, imputers often fit across features AND target GCV. We enforced strict isolation: KNN imputation fits ONLY on features [Moisture, VM, Ash].</a:t>
            </a:r>
          </a:p>
        </p:txBody>
      </p:sp>
      <p:sp>
        <p:nvSpPr>
          <p:cNvPr id="9" name="Rounded Rectangle 8"/>
          <p:cNvSpPr/>
          <p:nvPr/>
        </p:nvSpPr>
        <p:spPr>
          <a:xfrm>
            <a:off x="731520" y="3931920"/>
            <a:ext cx="5120640" cy="2011680"/>
          </a:xfrm>
          <a:prstGeom prst="roundRect">
            <a:avLst/>
          </a:prstGeom>
          <a:solidFill>
            <a:srgbClr val="1E293B"/>
          </a:solidFill>
          <a:ln w="1270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69080"/>
            <a:ext cx="4754880" cy="1737360"/>
          </a:xfrm>
          <a:prstGeom prst="rect">
            <a:avLst/>
          </a:prstGeom>
          <a:noFill/>
        </p:spPr>
        <p:txBody>
          <a:bodyPr wrap="square">
            <a:spAutoFit/>
          </a:bodyPr>
          <a:lstStyle/>
          <a:p>
            <a:pPr>
              <a:defRPr sz="1600" b="1">
                <a:solidFill>
                  <a:srgbClr val="FB923C"/>
                </a:solidFill>
              </a:defRPr>
            </a:pPr>
            <a:r>
              <a:t>3. Physical Bounds</a:t>
            </a:r>
          </a:p>
          <a:p>
            <a:pPr>
              <a:spcBef>
                <a:spcPts val="800"/>
              </a:spcBef>
              <a:defRPr sz="1200">
                <a:solidFill>
                  <a:srgbClr val="F8FAFC"/>
                </a:solidFill>
              </a:defRPr>
            </a:pPr>
            <a:r>
              <a:t>Enforced physical combustion realism:</a:t>
            </a:r>
            <a:br/>
            <a:r>
              <a:t>• GCV: 2000 to 9000 Kcal/kg</a:t>
            </a:r>
            <a:br/>
            <a:r>
              <a:t>• Standard Ash &lt;= 55%</a:t>
            </a:r>
            <a:br/>
            <a:r>
              <a:t>• Moisture &lt;= 45%, VM &lt;= 60%</a:t>
            </a:r>
          </a:p>
        </p:txBody>
      </p:sp>
      <p:sp>
        <p:nvSpPr>
          <p:cNvPr id="11" name="Rounded Rectangle 10"/>
          <p:cNvSpPr/>
          <p:nvPr/>
        </p:nvSpPr>
        <p:spPr>
          <a:xfrm>
            <a:off x="6126480" y="3931920"/>
            <a:ext cx="5120640" cy="201168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4069080"/>
            <a:ext cx="4754880" cy="1737360"/>
          </a:xfrm>
          <a:prstGeom prst="rect">
            <a:avLst/>
          </a:prstGeom>
          <a:noFill/>
        </p:spPr>
        <p:txBody>
          <a:bodyPr wrap="square">
            <a:spAutoFit/>
          </a:bodyPr>
          <a:lstStyle/>
          <a:p>
            <a:pPr>
              <a:defRPr sz="1600" b="1">
                <a:solidFill>
                  <a:srgbClr val="38BDF8"/>
                </a:solidFill>
              </a:defRPr>
            </a:pPr>
            <a:r>
              <a:t>4. Mass Balance Integrity</a:t>
            </a:r>
          </a:p>
          <a:p>
            <a:pPr>
              <a:spcBef>
                <a:spcPts val="800"/>
              </a:spcBef>
              <a:defRPr sz="1200">
                <a:solidFill>
                  <a:srgbClr val="F8FAFC"/>
                </a:solidFill>
              </a:defRPr>
            </a:pPr>
            <a:r>
              <a:t>By proximate definition, components sum to 100%:</a:t>
            </a:r>
            <a:br/>
            <a:r>
              <a:t>Fixed Carbon = 100 - (Moisture + VM + Ash)</a:t>
            </a:r>
            <a:br/>
            <a:r>
              <a:t>Retained exclusively samples with Fixed Carbon &gt; 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FEATURE ENGINEERING</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Domain Feature Engineering: Why Add Fuel Ratio?</a:t>
            </a:r>
          </a:p>
        </p:txBody>
      </p:sp>
      <p:sp>
        <p:nvSpPr>
          <p:cNvPr id="5" name="TextBox 4"/>
          <p:cNvSpPr txBox="1"/>
          <p:nvPr/>
        </p:nvSpPr>
        <p:spPr>
          <a:xfrm>
            <a:off x="731520" y="1645920"/>
            <a:ext cx="5486400" cy="4389120"/>
          </a:xfrm>
          <a:prstGeom prst="rect">
            <a:avLst/>
          </a:prstGeom>
          <a:noFill/>
        </p:spPr>
        <p:txBody>
          <a:bodyPr wrap="square">
            <a:spAutoFit/>
          </a:bodyPr>
          <a:lstStyle/>
          <a:p>
            <a:pPr>
              <a:defRPr sz="1700" b="1">
                <a:solidFill>
                  <a:srgbClr val="FB923C"/>
                </a:solidFill>
              </a:defRPr>
            </a:pPr>
            <a:r>
              <a:t>The Mathematical Limitation of Tree Models:</a:t>
            </a:r>
          </a:p>
          <a:p>
            <a:pPr>
              <a:spcBef>
                <a:spcPts val="1000"/>
              </a:spcBef>
              <a:defRPr sz="1300">
                <a:solidFill>
                  <a:srgbClr val="F8FAFC"/>
                </a:solidFill>
              </a:defRPr>
            </a:pPr>
            <a:r>
              <a:t>• Decision trees split orthogonally (Xi &gt; c). They cannot naturally compute division between features without hundreds of step-wise splits.</a:t>
            </a:r>
          </a:p>
          <a:p>
            <a:pPr>
              <a:spcBef>
                <a:spcPts val="1000"/>
              </a:spcBef>
              <a:defRPr sz="1300">
                <a:solidFill>
                  <a:srgbClr val="F8FAFC"/>
                </a:solidFill>
              </a:defRPr>
            </a:pPr>
            <a:r>
              <a:t>• In coal petrology, the Fuel Ratio is defined as:</a:t>
            </a:r>
            <a:br/>
            <a:r>
              <a:t>Fuel Ratio = Fixed Carbon / Volatile Matter</a:t>
            </a:r>
          </a:p>
          <a:p>
            <a:pPr>
              <a:spcBef>
                <a:spcPts val="1000"/>
              </a:spcBef>
              <a:defRPr sz="1300">
                <a:solidFill>
                  <a:srgbClr val="F8FAFC"/>
                </a:solidFill>
              </a:defRPr>
            </a:pPr>
            <a:r>
              <a:t>• Fuel Ratio is the universally accepted chemical proxy for coal rank (Anthracite vs Bituminous vs Lignite).</a:t>
            </a:r>
          </a:p>
          <a:p>
            <a:pPr>
              <a:spcBef>
                <a:spcPts val="1000"/>
              </a:spcBef>
              <a:defRPr sz="1300">
                <a:solidFill>
                  <a:srgbClr val="F8FAFC"/>
                </a:solidFill>
              </a:defRPr>
            </a:pPr>
            <a:r>
              <a:t>• By calculating it explicitly prior to training, we feed the model an explicit rank descriptor without requiring extra lab testing.</a:t>
            </a:r>
          </a:p>
        </p:txBody>
      </p:sp>
      <p:sp>
        <p:nvSpPr>
          <p:cNvPr id="6" name="Rounded Rectangle 5"/>
          <p:cNvSpPr/>
          <p:nvPr/>
        </p:nvSpPr>
        <p:spPr>
          <a:xfrm>
            <a:off x="6583680" y="1645920"/>
            <a:ext cx="4846320" cy="438912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0" y="1920240"/>
            <a:ext cx="4297680" cy="3840480"/>
          </a:xfrm>
          <a:prstGeom prst="rect">
            <a:avLst/>
          </a:prstGeom>
          <a:noFill/>
        </p:spPr>
        <p:txBody>
          <a:bodyPr wrap="square">
            <a:spAutoFit/>
          </a:bodyPr>
          <a:lstStyle/>
          <a:p>
            <a:pPr>
              <a:defRPr sz="1600" b="1">
                <a:solidFill>
                  <a:srgbClr val="34D399"/>
                </a:solidFill>
              </a:defRPr>
            </a:pPr>
            <a:r>
              <a:t>Mass Balance Formulation:</a:t>
            </a:r>
          </a:p>
          <a:p>
            <a:pPr>
              <a:spcBef>
                <a:spcPts val="1000"/>
              </a:spcBef>
              <a:defRPr sz="1500" b="1">
                <a:solidFill>
                  <a:srgbClr val="F8FAFC"/>
                </a:solidFill>
              </a:defRPr>
            </a:pPr>
            <a:r>
              <a:t>FC = 100 - (Moisture + VM + Ash)</a:t>
            </a:r>
            <a:br/>
            <a:br/>
            <a:r>
              <a:t>Fuel Ratio = FC / VM</a:t>
            </a:r>
          </a:p>
          <a:p>
            <a:br/>
            <a:pPr>
              <a:spcBef>
                <a:spcPts val="1000"/>
              </a:spcBef>
              <a:defRPr sz="1300">
                <a:solidFill>
                  <a:srgbClr val="94A3B8"/>
                </a:solidFill>
              </a:defRPr>
            </a:pPr>
            <a:r>
              <a:t>Impact on Training:</a:t>
            </a:r>
            <a:br/>
            <a:r>
              <a:t>• Drastically simplifies tree depth requirements.</a:t>
            </a:r>
            <a:br/>
            <a:r>
              <a:t>• Enables shallow XGBoost trees (depth 4) to capture coal rank variations.</a:t>
            </a:r>
            <a:br/>
            <a:r>
              <a:t>• Reduces CV error across all folds consistently.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MODEL EVALUATION</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Quantitative Benchmarking: Proving Ensemble Superiority</a:t>
            </a:r>
          </a:p>
        </p:txBody>
      </p:sp>
      <p:graphicFrame>
        <p:nvGraphicFramePr>
          <p:cNvPr id="5" name="Table 4"/>
          <p:cNvGraphicFramePr>
            <a:graphicFrameLocks noGrp="1"/>
          </p:cNvGraphicFramePr>
          <p:nvPr/>
        </p:nvGraphicFramePr>
        <p:xfrm>
          <a:off x="731520" y="1645920"/>
          <a:ext cx="5943600" cy="4114800"/>
        </p:xfrm>
        <a:graphic>
          <a:graphicData uri="http://schemas.openxmlformats.org/drawingml/2006/table">
            <a:tbl>
              <a:tblPr firstRow="1" bandRow="1">
                <a:tableStyleId>{5C22544A-7EE6-4342-B048-85BDC9FD1C3A}</a:tableStyleId>
              </a:tblPr>
              <a:tblGrid>
                <a:gridCol w="2377440"/>
                <a:gridCol w="1188720"/>
                <a:gridCol w="1188720"/>
                <a:gridCol w="1188720"/>
              </a:tblGrid>
              <a:tr h="685800">
                <a:tc>
                  <a:txBody>
                    <a:bodyPr/>
                    <a:lstStyle/>
                    <a:p>
                      <a:pPr>
                        <a:defRPr sz="1100" b="1">
                          <a:solidFill>
                            <a:srgbClr val="F8FAFC"/>
                          </a:solidFill>
                        </a:defRPr>
                      </a:pPr>
                      <a:r>
                        <a:t>Model Architecture</a:t>
                      </a:r>
                    </a:p>
                  </a:txBody>
                  <a:tcPr>
                    <a:solidFill>
                      <a:srgbClr val="1E3A8A"/>
                    </a:solidFill>
                  </a:tcPr>
                </a:tc>
                <a:tc>
                  <a:txBody>
                    <a:bodyPr/>
                    <a:lstStyle/>
                    <a:p>
                      <a:pPr>
                        <a:defRPr sz="1100" b="1">
                          <a:solidFill>
                            <a:srgbClr val="F8FAFC"/>
                          </a:solidFill>
                        </a:defRPr>
                      </a:pPr>
                      <a:r>
                        <a:t>5-Fold RMSE</a:t>
                      </a:r>
                    </a:p>
                  </a:txBody>
                  <a:tcPr>
                    <a:solidFill>
                      <a:srgbClr val="1E3A8A"/>
                    </a:solidFill>
                  </a:tcPr>
                </a:tc>
                <a:tc>
                  <a:txBody>
                    <a:bodyPr/>
                    <a:lstStyle/>
                    <a:p>
                      <a:pPr>
                        <a:defRPr sz="1100" b="1">
                          <a:solidFill>
                            <a:srgbClr val="F8FAFC"/>
                          </a:solidFill>
                        </a:defRPr>
                      </a:pPr>
                      <a:r>
                        <a:t>5-Fold MAE</a:t>
                      </a:r>
                    </a:p>
                  </a:txBody>
                  <a:tcPr>
                    <a:solidFill>
                      <a:srgbClr val="1E3A8A"/>
                    </a:solidFill>
                  </a:tcPr>
                </a:tc>
                <a:tc>
                  <a:txBody>
                    <a:bodyPr/>
                    <a:lstStyle/>
                    <a:p>
                      <a:pPr>
                        <a:defRPr sz="1100" b="1">
                          <a:solidFill>
                            <a:srgbClr val="F8FAFC"/>
                          </a:solidFill>
                        </a:defRPr>
                      </a:pPr>
                      <a:r>
                        <a:t>R² Score</a:t>
                      </a:r>
                    </a:p>
                  </a:txBody>
                  <a:tcPr>
                    <a:solidFill>
                      <a:srgbClr val="1E3A8A"/>
                    </a:solidFill>
                  </a:tcPr>
                </a:tc>
              </a:tr>
              <a:tr h="685800">
                <a:tc>
                  <a:txBody>
                    <a:bodyPr/>
                    <a:lstStyle/>
                    <a:p>
                      <a:pPr>
                        <a:defRPr sz="1100">
                          <a:solidFill>
                            <a:srgbClr val="F8FAFC"/>
                          </a:solidFill>
                        </a:defRPr>
                      </a:pPr>
                      <a:r>
                        <a:t>Support Vector Machine (SVR)</a:t>
                      </a:r>
                    </a:p>
                  </a:txBody>
                  <a:tcPr>
                    <a:solidFill>
                      <a:srgbClr val="1E293B"/>
                    </a:solidFill>
                  </a:tcPr>
                </a:tc>
                <a:tc>
                  <a:txBody>
                    <a:bodyPr/>
                    <a:lstStyle/>
                    <a:p>
                      <a:pPr>
                        <a:defRPr sz="1100">
                          <a:solidFill>
                            <a:srgbClr val="F8FAFC"/>
                          </a:solidFill>
                        </a:defRPr>
                      </a:pPr>
                      <a:r>
                        <a:t>612.45</a:t>
                      </a:r>
                    </a:p>
                  </a:txBody>
                  <a:tcPr>
                    <a:solidFill>
                      <a:srgbClr val="1E293B"/>
                    </a:solidFill>
                  </a:tcPr>
                </a:tc>
                <a:tc>
                  <a:txBody>
                    <a:bodyPr/>
                    <a:lstStyle/>
                    <a:p>
                      <a:pPr>
                        <a:defRPr sz="1100">
                          <a:solidFill>
                            <a:srgbClr val="F8FAFC"/>
                          </a:solidFill>
                        </a:defRPr>
                      </a:pPr>
                      <a:r>
                        <a:t>487.12</a:t>
                      </a:r>
                    </a:p>
                  </a:txBody>
                  <a:tcPr>
                    <a:solidFill>
                      <a:srgbClr val="1E293B"/>
                    </a:solidFill>
                  </a:tcPr>
                </a:tc>
                <a:tc>
                  <a:txBody>
                    <a:bodyPr/>
                    <a:lstStyle/>
                    <a:p>
                      <a:pPr>
                        <a:defRPr sz="1100">
                          <a:solidFill>
                            <a:srgbClr val="F8FAFC"/>
                          </a:solidFill>
                        </a:defRPr>
                      </a:pPr>
                      <a:r>
                        <a:t>0.3541</a:t>
                      </a:r>
                    </a:p>
                  </a:txBody>
                  <a:tcPr>
                    <a:solidFill>
                      <a:srgbClr val="1E293B"/>
                    </a:solidFill>
                  </a:tcPr>
                </a:tc>
              </a:tr>
              <a:tr h="685800">
                <a:tc>
                  <a:txBody>
                    <a:bodyPr/>
                    <a:lstStyle/>
                    <a:p>
                      <a:pPr>
                        <a:defRPr sz="1100">
                          <a:solidFill>
                            <a:srgbClr val="F8FAFC"/>
                          </a:solidFill>
                        </a:defRPr>
                      </a:pPr>
                      <a:r>
                        <a:t>Decision Tree Regressor</a:t>
                      </a:r>
                    </a:p>
                  </a:txBody>
                  <a:tcPr>
                    <a:solidFill>
                      <a:srgbClr val="1E293B"/>
                    </a:solidFill>
                  </a:tcPr>
                </a:tc>
                <a:tc>
                  <a:txBody>
                    <a:bodyPr/>
                    <a:lstStyle/>
                    <a:p>
                      <a:pPr>
                        <a:defRPr sz="1100">
                          <a:solidFill>
                            <a:srgbClr val="F8FAFC"/>
                          </a:solidFill>
                        </a:defRPr>
                      </a:pPr>
                      <a:r>
                        <a:t>217.30</a:t>
                      </a:r>
                    </a:p>
                  </a:txBody>
                  <a:tcPr>
                    <a:solidFill>
                      <a:srgbClr val="1E293B"/>
                    </a:solidFill>
                  </a:tcPr>
                </a:tc>
                <a:tc>
                  <a:txBody>
                    <a:bodyPr/>
                    <a:lstStyle/>
                    <a:p>
                      <a:pPr>
                        <a:defRPr sz="1100">
                          <a:solidFill>
                            <a:srgbClr val="F8FAFC"/>
                          </a:solidFill>
                        </a:defRPr>
                      </a:pPr>
                      <a:r>
                        <a:t>148.80</a:t>
                      </a:r>
                    </a:p>
                  </a:txBody>
                  <a:tcPr>
                    <a:solidFill>
                      <a:srgbClr val="1E293B"/>
                    </a:solidFill>
                  </a:tcPr>
                </a:tc>
                <a:tc>
                  <a:txBody>
                    <a:bodyPr/>
                    <a:lstStyle/>
                    <a:p>
                      <a:pPr>
                        <a:defRPr sz="1100">
                          <a:solidFill>
                            <a:srgbClr val="F8FAFC"/>
                          </a:solidFill>
                        </a:defRPr>
                      </a:pPr>
                      <a:r>
                        <a:t>0.9168</a:t>
                      </a:r>
                    </a:p>
                  </a:txBody>
                  <a:tcPr>
                    <a:solidFill>
                      <a:srgbClr val="1E293B"/>
                    </a:solidFill>
                  </a:tcPr>
                </a:tc>
              </a:tr>
              <a:tr h="685800">
                <a:tc>
                  <a:txBody>
                    <a:bodyPr/>
                    <a:lstStyle/>
                    <a:p>
                      <a:pPr>
                        <a:defRPr sz="1100">
                          <a:solidFill>
                            <a:srgbClr val="F8FAFC"/>
                          </a:solidFill>
                        </a:defRPr>
                      </a:pPr>
                      <a:r>
                        <a:t>Random Forest Regressor</a:t>
                      </a:r>
                    </a:p>
                  </a:txBody>
                  <a:tcPr>
                    <a:solidFill>
                      <a:srgbClr val="1E293B"/>
                    </a:solidFill>
                  </a:tcPr>
                </a:tc>
                <a:tc>
                  <a:txBody>
                    <a:bodyPr/>
                    <a:lstStyle/>
                    <a:p>
                      <a:pPr>
                        <a:defRPr sz="1100">
                          <a:solidFill>
                            <a:srgbClr val="F8FAFC"/>
                          </a:solidFill>
                        </a:defRPr>
                      </a:pPr>
                      <a:r>
                        <a:t>154.84</a:t>
                      </a:r>
                    </a:p>
                  </a:txBody>
                  <a:tcPr>
                    <a:solidFill>
                      <a:srgbClr val="1E293B"/>
                    </a:solidFill>
                  </a:tcPr>
                </a:tc>
                <a:tc>
                  <a:txBody>
                    <a:bodyPr/>
                    <a:lstStyle/>
                    <a:p>
                      <a:pPr>
                        <a:defRPr sz="1100">
                          <a:solidFill>
                            <a:srgbClr val="F8FAFC"/>
                          </a:solidFill>
                        </a:defRPr>
                      </a:pPr>
                      <a:r>
                        <a:t>109.12</a:t>
                      </a:r>
                    </a:p>
                  </a:txBody>
                  <a:tcPr>
                    <a:solidFill>
                      <a:srgbClr val="1E293B"/>
                    </a:solidFill>
                  </a:tcPr>
                </a:tc>
                <a:tc>
                  <a:txBody>
                    <a:bodyPr/>
                    <a:lstStyle/>
                    <a:p>
                      <a:pPr>
                        <a:defRPr sz="1100">
                          <a:solidFill>
                            <a:srgbClr val="F8FAFC"/>
                          </a:solidFill>
                        </a:defRPr>
                      </a:pPr>
                      <a:r>
                        <a:t>0.9571</a:t>
                      </a:r>
                    </a:p>
                  </a:txBody>
                  <a:tcPr>
                    <a:solidFill>
                      <a:srgbClr val="1E293B"/>
                    </a:solidFill>
                  </a:tcPr>
                </a:tc>
              </a:tr>
              <a:tr h="685800">
                <a:tc>
                  <a:txBody>
                    <a:bodyPr/>
                    <a:lstStyle/>
                    <a:p>
                      <a:pPr>
                        <a:defRPr sz="1100">
                          <a:solidFill>
                            <a:srgbClr val="F8FAFC"/>
                          </a:solidFill>
                        </a:defRPr>
                      </a:pPr>
                      <a:r>
                        <a:t>XGBoost Regressor</a:t>
                      </a:r>
                    </a:p>
                  </a:txBody>
                  <a:tcPr>
                    <a:solidFill>
                      <a:srgbClr val="1E293B"/>
                    </a:solidFill>
                  </a:tcPr>
                </a:tc>
                <a:tc>
                  <a:txBody>
                    <a:bodyPr/>
                    <a:lstStyle/>
                    <a:p>
                      <a:pPr>
                        <a:defRPr sz="1100">
                          <a:solidFill>
                            <a:srgbClr val="F8FAFC"/>
                          </a:solidFill>
                        </a:defRPr>
                      </a:pPr>
                      <a:r>
                        <a:t>152.14</a:t>
                      </a:r>
                    </a:p>
                  </a:txBody>
                  <a:tcPr>
                    <a:solidFill>
                      <a:srgbClr val="1E293B"/>
                    </a:solidFill>
                  </a:tcPr>
                </a:tc>
                <a:tc>
                  <a:txBody>
                    <a:bodyPr/>
                    <a:lstStyle/>
                    <a:p>
                      <a:pPr>
                        <a:defRPr sz="1100">
                          <a:solidFill>
                            <a:srgbClr val="F8FAFC"/>
                          </a:solidFill>
                        </a:defRPr>
                      </a:pPr>
                      <a:r>
                        <a:t>107.45</a:t>
                      </a:r>
                    </a:p>
                  </a:txBody>
                  <a:tcPr>
                    <a:solidFill>
                      <a:srgbClr val="1E293B"/>
                    </a:solidFill>
                  </a:tcPr>
                </a:tc>
                <a:tc>
                  <a:txBody>
                    <a:bodyPr/>
                    <a:lstStyle/>
                    <a:p>
                      <a:pPr>
                        <a:defRPr sz="1100">
                          <a:solidFill>
                            <a:srgbClr val="F8FAFC"/>
                          </a:solidFill>
                        </a:defRPr>
                      </a:pPr>
                      <a:r>
                        <a:t>0.9585</a:t>
                      </a:r>
                    </a:p>
                  </a:txBody>
                  <a:tcPr>
                    <a:solidFill>
                      <a:srgbClr val="1E293B"/>
                    </a:solidFill>
                  </a:tcPr>
                </a:tc>
              </a:tr>
              <a:tr h="685800">
                <a:tc>
                  <a:txBody>
                    <a:bodyPr/>
                    <a:lstStyle/>
                    <a:p>
                      <a:pPr>
                        <a:defRPr sz="1100" b="1">
                          <a:solidFill>
                            <a:srgbClr val="F8FAFC"/>
                          </a:solidFill>
                        </a:defRPr>
                      </a:pPr>
                      <a:r>
                        <a:t>Stacked Ensemble (Ours)</a:t>
                      </a:r>
                    </a:p>
                  </a:txBody>
                  <a:tcPr>
                    <a:solidFill>
                      <a:srgbClr val="064E3B"/>
                    </a:solidFill>
                  </a:tcPr>
                </a:tc>
                <a:tc>
                  <a:txBody>
                    <a:bodyPr/>
                    <a:lstStyle/>
                    <a:p>
                      <a:pPr>
                        <a:defRPr sz="1100" b="1">
                          <a:solidFill>
                            <a:srgbClr val="F8FAFC"/>
                          </a:solidFill>
                        </a:defRPr>
                      </a:pPr>
                      <a:r>
                        <a:t>150.28</a:t>
                      </a:r>
                    </a:p>
                  </a:txBody>
                  <a:tcPr>
                    <a:solidFill>
                      <a:srgbClr val="064E3B"/>
                    </a:solidFill>
                  </a:tcPr>
                </a:tc>
                <a:tc>
                  <a:txBody>
                    <a:bodyPr/>
                    <a:lstStyle/>
                    <a:p>
                      <a:pPr>
                        <a:defRPr sz="1100" b="1">
                          <a:solidFill>
                            <a:srgbClr val="F8FAFC"/>
                          </a:solidFill>
                        </a:defRPr>
                      </a:pPr>
                      <a:r>
                        <a:t>105.97</a:t>
                      </a:r>
                    </a:p>
                  </a:txBody>
                  <a:tcPr>
                    <a:solidFill>
                      <a:srgbClr val="064E3B"/>
                    </a:solidFill>
                  </a:tcPr>
                </a:tc>
                <a:tc>
                  <a:txBody>
                    <a:bodyPr/>
                    <a:lstStyle/>
                    <a:p>
                      <a:pPr>
                        <a:defRPr sz="1100" b="1">
                          <a:solidFill>
                            <a:srgbClr val="F8FAFC"/>
                          </a:solidFill>
                        </a:defRPr>
                      </a:pPr>
                      <a:r>
                        <a:t>0.9595</a:t>
                      </a:r>
                    </a:p>
                  </a:txBody>
                  <a:tcPr>
                    <a:solidFill>
                      <a:srgbClr val="064E3B"/>
                    </a:solidFill>
                  </a:tcPr>
                </a:tc>
              </a:tr>
            </a:tbl>
          </a:graphicData>
        </a:graphic>
      </p:graphicFrame>
      <p:pic>
        <p:nvPicPr>
          <p:cNvPr id="6" name="Picture 5" descr="model_comparison_plot.png"/>
          <p:cNvPicPr>
            <a:picLocks noChangeAspect="1"/>
          </p:cNvPicPr>
          <p:nvPr/>
        </p:nvPicPr>
        <p:blipFill>
          <a:blip r:embed="rId2"/>
          <a:stretch>
            <a:fillRect/>
          </a:stretch>
        </p:blipFill>
        <p:spPr>
          <a:xfrm>
            <a:off x="6949440" y="1645920"/>
            <a:ext cx="4572000" cy="2743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MODEL ARCHITECTURE</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Stacking Ensemble Architecture &amp; SVR Normalization</a:t>
            </a:r>
          </a:p>
        </p:txBody>
      </p:sp>
      <p:sp>
        <p:nvSpPr>
          <p:cNvPr id="5" name="Rounded Rectangle 4"/>
          <p:cNvSpPr/>
          <p:nvPr/>
        </p:nvSpPr>
        <p:spPr>
          <a:xfrm>
            <a:off x="731520" y="1645920"/>
            <a:ext cx="2560320" cy="43891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2286000" cy="4023360"/>
          </a:xfrm>
          <a:prstGeom prst="rect">
            <a:avLst/>
          </a:prstGeom>
          <a:noFill/>
        </p:spPr>
        <p:txBody>
          <a:bodyPr wrap="square">
            <a:spAutoFit/>
          </a:bodyPr>
          <a:lstStyle/>
          <a:p>
            <a:pPr>
              <a:defRPr sz="1500" b="1">
                <a:solidFill>
                  <a:srgbClr val="38BDF8"/>
                </a:solidFill>
              </a:defRPr>
            </a:pPr>
            <a:r>
              <a:t>Level-0: Random Forest</a:t>
            </a:r>
          </a:p>
          <a:p>
            <a:pPr>
              <a:spcBef>
                <a:spcPts val="1200"/>
              </a:spcBef>
              <a:defRPr sz="1100">
                <a:solidFill>
                  <a:srgbClr val="F8FAFC"/>
                </a:solidFill>
              </a:defRPr>
            </a:pPr>
            <a:r>
              <a:t>Bagging Regressor (200 trees, max depth 15).</a:t>
            </a:r>
            <a:br/>
            <a:br/>
            <a:r>
              <a:t>Role: Smooths predictive variance by averaging across de-correlated bootstrapped subsets. Resilient to isolated lab noise.</a:t>
            </a:r>
          </a:p>
        </p:txBody>
      </p:sp>
      <p:sp>
        <p:nvSpPr>
          <p:cNvPr id="7" name="Rounded Rectangle 6"/>
          <p:cNvSpPr/>
          <p:nvPr/>
        </p:nvSpPr>
        <p:spPr>
          <a:xfrm>
            <a:off x="3429000" y="1645920"/>
            <a:ext cx="2560320" cy="4389120"/>
          </a:xfrm>
          <a:prstGeom prst="roundRect">
            <a:avLst/>
          </a:prstGeom>
          <a:solidFill>
            <a:srgbClr val="1E293B"/>
          </a:solidFill>
          <a:ln w="1905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66160" y="1828800"/>
            <a:ext cx="2286000" cy="4023360"/>
          </a:xfrm>
          <a:prstGeom prst="rect">
            <a:avLst/>
          </a:prstGeom>
          <a:noFill/>
        </p:spPr>
        <p:txBody>
          <a:bodyPr wrap="square">
            <a:spAutoFit/>
          </a:bodyPr>
          <a:lstStyle/>
          <a:p>
            <a:pPr>
              <a:defRPr sz="1500" b="1">
                <a:solidFill>
                  <a:srgbClr val="FB923C"/>
                </a:solidFill>
              </a:defRPr>
            </a:pPr>
            <a:r>
              <a:t>Level-0: XGBoost</a:t>
            </a:r>
          </a:p>
          <a:p>
            <a:pPr>
              <a:spcBef>
                <a:spcPts val="1200"/>
              </a:spcBef>
              <a:defRPr sz="1100">
                <a:solidFill>
                  <a:srgbClr val="F8FAFC"/>
                </a:solidFill>
              </a:defRPr>
            </a:pPr>
            <a:r>
              <a:t>Gradient Boosted Trees (300 estimators, depth 4, lr 0.025).</a:t>
            </a:r>
            <a:br/>
            <a:br/>
            <a:r>
              <a:t>Role: Minimizes residual bias sequentially. Captures non-linear chemical interactions between moisture and ash.</a:t>
            </a:r>
          </a:p>
        </p:txBody>
      </p:sp>
      <p:sp>
        <p:nvSpPr>
          <p:cNvPr id="9" name="Rounded Rectangle 8"/>
          <p:cNvSpPr/>
          <p:nvPr/>
        </p:nvSpPr>
        <p:spPr>
          <a:xfrm>
            <a:off x="6126480" y="1645920"/>
            <a:ext cx="2560320" cy="438912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63640" y="1828800"/>
            <a:ext cx="2286000" cy="4023360"/>
          </a:xfrm>
          <a:prstGeom prst="rect">
            <a:avLst/>
          </a:prstGeom>
          <a:noFill/>
        </p:spPr>
        <p:txBody>
          <a:bodyPr wrap="square">
            <a:spAutoFit/>
          </a:bodyPr>
          <a:lstStyle/>
          <a:p>
            <a:pPr>
              <a:defRPr sz="1500" b="1">
                <a:solidFill>
                  <a:srgbClr val="34D399"/>
                </a:solidFill>
              </a:defRPr>
            </a:pPr>
            <a:r>
              <a:t>Level-0: Scaled SVR</a:t>
            </a:r>
          </a:p>
          <a:p>
            <a:pPr>
              <a:spcBef>
                <a:spcPts val="1200"/>
              </a:spcBef>
              <a:defRPr sz="1100">
                <a:solidFill>
                  <a:srgbClr val="F8FAFC"/>
                </a:solidFill>
              </a:defRPr>
            </a:pPr>
            <a:r>
              <a:t>Support Vector Regressor with RBF kernel.</a:t>
            </a:r>
            <a:br/>
            <a:br/>
            <a:r>
              <a:t>Key Solution: Wrapped inside TransformedTargetRegressor(StandardScaler) to normalize both inputs AND target GCV during kernel evaluation.</a:t>
            </a:r>
          </a:p>
        </p:txBody>
      </p:sp>
      <p:sp>
        <p:nvSpPr>
          <p:cNvPr id="11" name="Rounded Rectangle 10"/>
          <p:cNvSpPr/>
          <p:nvPr/>
        </p:nvSpPr>
        <p:spPr>
          <a:xfrm>
            <a:off x="8823960" y="1645920"/>
            <a:ext cx="2560320" cy="43891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0" y="1828800"/>
            <a:ext cx="2286000" cy="4023360"/>
          </a:xfrm>
          <a:prstGeom prst="rect">
            <a:avLst/>
          </a:prstGeom>
          <a:noFill/>
        </p:spPr>
        <p:txBody>
          <a:bodyPr wrap="square">
            <a:spAutoFit/>
          </a:bodyPr>
          <a:lstStyle/>
          <a:p>
            <a:pPr>
              <a:defRPr sz="1500" b="1">
                <a:solidFill>
                  <a:srgbClr val="38BDF8"/>
                </a:solidFill>
              </a:defRPr>
            </a:pPr>
            <a:r>
              <a:t>Level-1: Ridge Meta-Learner</a:t>
            </a:r>
          </a:p>
          <a:p>
            <a:pPr>
              <a:spcBef>
                <a:spcPts val="1200"/>
              </a:spcBef>
              <a:defRPr sz="1100">
                <a:solidFill>
                  <a:srgbClr val="F8FAFC"/>
                </a:solidFill>
              </a:defRPr>
            </a:pPr>
            <a:r>
              <a:t>Linear Meta-Regressor with L2 penalty.</a:t>
            </a:r>
            <a:br/>
            <a:br/>
            <a:r>
              <a:t>Role: Learns optimal blending weights from out-of-fold cross-validation predictions, preventing overfitting at the ensemble layer.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HYPERPARAMETER TUNING</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Bayesian Hyperparameter Optimization via Optuna</a:t>
            </a:r>
          </a:p>
        </p:txBody>
      </p:sp>
      <p:sp>
        <p:nvSpPr>
          <p:cNvPr id="5" name="TextBox 4"/>
          <p:cNvSpPr txBox="1"/>
          <p:nvPr/>
        </p:nvSpPr>
        <p:spPr>
          <a:xfrm>
            <a:off x="731520" y="1645920"/>
            <a:ext cx="5303520" cy="4389120"/>
          </a:xfrm>
          <a:prstGeom prst="rect">
            <a:avLst/>
          </a:prstGeom>
          <a:noFill/>
        </p:spPr>
        <p:txBody>
          <a:bodyPr wrap="square">
            <a:spAutoFit/>
          </a:bodyPr>
          <a:lstStyle/>
          <a:p>
            <a:pPr>
              <a:defRPr sz="1700" b="1">
                <a:solidFill>
                  <a:srgbClr val="38BDF8"/>
                </a:solidFill>
              </a:defRPr>
            </a:pPr>
            <a:r>
              <a:t>Why Bayesian Optimization over Grid Search?</a:t>
            </a:r>
          </a:p>
          <a:p>
            <a:pPr>
              <a:spcBef>
                <a:spcPts val="1000"/>
              </a:spcBef>
              <a:defRPr sz="1250">
                <a:solidFill>
                  <a:srgbClr val="F8FAFC"/>
                </a:solidFill>
              </a:defRPr>
            </a:pPr>
            <a:r>
              <a:t>• Grid Search is computationally expensive and samples uninformative parameter regions.</a:t>
            </a:r>
          </a:p>
          <a:p>
            <a:pPr>
              <a:spcBef>
                <a:spcPts val="1000"/>
              </a:spcBef>
              <a:defRPr sz="1250">
                <a:solidFill>
                  <a:srgbClr val="F8FAFC"/>
                </a:solidFill>
              </a:defRPr>
            </a:pPr>
            <a:r>
              <a:t>• Optuna utilizes Tree-structured Parzen Estimators (TPE) to model the probability distribution of 5-fold CV RMSE.</a:t>
            </a:r>
          </a:p>
          <a:p>
            <a:pPr>
              <a:spcBef>
                <a:spcPts val="1000"/>
              </a:spcBef>
              <a:defRPr sz="1250">
                <a:solidFill>
                  <a:srgbClr val="F8FAFC"/>
                </a:solidFill>
              </a:defRPr>
            </a:pPr>
            <a:r>
              <a:t>• It concentrates evaluation trials where parameter combinations historically yield lower error.</a:t>
            </a:r>
          </a:p>
          <a:p>
            <a:pPr>
              <a:spcBef>
                <a:spcPts val="1000"/>
              </a:spcBef>
              <a:defRPr sz="1250">
                <a:solidFill>
                  <a:srgbClr val="F8FAFC"/>
                </a:solidFill>
              </a:defRPr>
            </a:pPr>
            <a:r>
              <a:t>• Optimal parameters saved to models/best_params.json for transparent, reproducible deployment.</a:t>
            </a:r>
          </a:p>
        </p:txBody>
      </p:sp>
      <p:sp>
        <p:nvSpPr>
          <p:cNvPr id="6" name="Rounded Rectangle 5"/>
          <p:cNvSpPr/>
          <p:nvPr/>
        </p:nvSpPr>
        <p:spPr>
          <a:xfrm>
            <a:off x="6309360" y="1645920"/>
            <a:ext cx="5120640" cy="438912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0" y="1828800"/>
            <a:ext cx="4754880" cy="4023360"/>
          </a:xfrm>
          <a:prstGeom prst="rect">
            <a:avLst/>
          </a:prstGeom>
          <a:noFill/>
        </p:spPr>
        <p:txBody>
          <a:bodyPr wrap="square">
            <a:spAutoFit/>
          </a:bodyPr>
          <a:lstStyle/>
          <a:p>
            <a:pPr>
              <a:defRPr sz="1600" b="1">
                <a:solidFill>
                  <a:srgbClr val="34D399"/>
                </a:solidFill>
              </a:defRPr>
            </a:pPr>
            <a:r>
              <a:t>Tuned Hyperparameter Snapshot:</a:t>
            </a:r>
          </a:p>
          <a:p>
            <a:pPr>
              <a:spcBef>
                <a:spcPts val="1000"/>
              </a:spcBef>
              <a:defRPr sz="1100">
                <a:solidFill>
                  <a:srgbClr val="F8FAFC"/>
                </a:solidFill>
              </a:defRPr>
            </a:pPr>
            <a:r>
              <a:t>XGBoost Regressor:</a:t>
            </a:r>
            <a:br/>
            <a:r>
              <a:t>• n_estimators = 300  |  max_depth = 4</a:t>
            </a:r>
            <a:br/>
            <a:r>
              <a:t>• learning_rate = 0.0256  |  subsample = 0.7</a:t>
            </a:r>
            <a:br/>
            <a:r>
              <a:t>• colsample_bytree = 0.8  |  min_child_weight = 2</a:t>
            </a:r>
            <a:br/>
            <a:br/>
            <a:r>
              <a:t>Random Forest Regressor:</a:t>
            </a:r>
            <a:br/>
            <a:r>
              <a:t>• n_estimators = 200  |  max_depth = 15</a:t>
            </a:r>
            <a:br/>
            <a:r>
              <a:t>• min_samples_leaf = 4  |  max_features = 0.7</a:t>
            </a:r>
            <a:br/>
            <a:br/>
            <a:r>
              <a:t>Support Vector Regressor (SVR):</a:t>
            </a:r>
            <a:br/>
            <a:r>
              <a:t>• C = 1.292  |  epsilon = 0.0857  |  gamma = 'auto'</a:t>
            </a:r>
            <a:br/>
            <a:br/>
            <a:r>
              <a:t>Stacking Meta-Learner (Ridge):</a:t>
            </a:r>
            <a:br/>
            <a:r>
              <a:t>• alpha = 0.0105  (Optimal L2 shrinkage)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RANK SPECIALIZATION</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Coal Rank Specialization: ASTM D388 Bituminous Model</a:t>
            </a:r>
          </a:p>
        </p:txBody>
      </p:sp>
      <p:sp>
        <p:nvSpPr>
          <p:cNvPr id="5" name="TextBox 4"/>
          <p:cNvSpPr txBox="1"/>
          <p:nvPr/>
        </p:nvSpPr>
        <p:spPr>
          <a:xfrm>
            <a:off x="731520" y="1645920"/>
            <a:ext cx="5303520" cy="4389120"/>
          </a:xfrm>
          <a:prstGeom prst="rect">
            <a:avLst/>
          </a:prstGeom>
          <a:noFill/>
        </p:spPr>
        <p:txBody>
          <a:bodyPr wrap="square">
            <a:spAutoFit/>
          </a:bodyPr>
          <a:lstStyle/>
          <a:p>
            <a:pPr>
              <a:defRPr sz="1600" b="1">
                <a:solidFill>
                  <a:srgbClr val="34D399"/>
                </a:solidFill>
              </a:defRPr>
            </a:pPr>
            <a:r>
              <a:t>The Scientific Rationale for Rank Segregation:</a:t>
            </a:r>
          </a:p>
          <a:p>
            <a:pPr>
              <a:spcBef>
                <a:spcPts val="800"/>
              </a:spcBef>
              <a:defRPr sz="1200">
                <a:solidFill>
                  <a:srgbClr val="F8FAFC"/>
                </a:solidFill>
              </a:defRPr>
            </a:pPr>
            <a:r>
              <a:t>• Coal is chemically non-homogeneous across geological ranks. Lignite, Bituminous, and Anthracite exhibit vastly different volatile release kinetics.</a:t>
            </a:r>
          </a:p>
          <a:p>
            <a:pPr>
              <a:spcBef>
                <a:spcPts val="800"/>
              </a:spcBef>
              <a:defRPr sz="1200">
                <a:solidFill>
                  <a:srgbClr val="F8FAFC"/>
                </a:solidFill>
              </a:defRPr>
            </a:pPr>
            <a:r>
              <a:t>• Under ASTM D388, Bituminous Coal is strictly classified by:</a:t>
            </a:r>
            <a:br/>
            <a:r>
              <a:t>• Moist Mineral-Matter-Free Btu &gt;= 10,500 Btu/lb</a:t>
            </a:r>
            <a:br/>
            <a:r>
              <a:t>• Dry MMF Volatile Matter &gt;= 14.0%</a:t>
            </a:r>
            <a:br/>
            <a:r>
              <a:t>• Dry MMF Fixed Carbon &lt; 86.0%</a:t>
            </a:r>
          </a:p>
          <a:p>
            <a:pPr>
              <a:spcBef>
                <a:spcPts val="800"/>
              </a:spcBef>
              <a:defRPr sz="1200">
                <a:solidFill>
                  <a:srgbClr val="F8FAFC"/>
                </a:solidFill>
              </a:defRPr>
            </a:pPr>
            <a:r>
              <a:t>• We isolated 4,494 verified bituminous samples and trained a dedicated model pipeline (src/train_bituminous.py).</a:t>
            </a:r>
          </a:p>
          <a:p>
            <a:pPr>
              <a:spcBef>
                <a:spcPts val="800"/>
              </a:spcBef>
              <a:defRPr sz="1200">
                <a:solidFill>
                  <a:srgbClr val="F8FAFC"/>
                </a:solidFill>
              </a:defRPr>
            </a:pPr>
            <a:r>
              <a:t>• Performance Impact:</a:t>
            </a:r>
            <a:br/>
            <a:r>
              <a:t>• RMSE dropped to 134.18 Kcal/kg (vs 150.28)</a:t>
            </a:r>
            <a:br/>
            <a:r>
              <a:t>• MAE dropped to 96.29 Kcal/kg (sub-100 error!)</a:t>
            </a:r>
            <a:br/>
            <a:r>
              <a:t>• CV Score reached 1.91%</a:t>
            </a:r>
          </a:p>
        </p:txBody>
      </p:sp>
      <p:pic>
        <p:nvPicPr>
          <p:cNvPr id="6" name="Picture 5" descr="actual_vs_predicted_bituminous.png"/>
          <p:cNvPicPr>
            <a:picLocks noChangeAspect="1"/>
          </p:cNvPicPr>
          <p:nvPr/>
        </p:nvPicPr>
        <p:blipFill>
          <a:blip r:embed="rId2"/>
          <a:stretch>
            <a:fillRect/>
          </a:stretch>
        </p:blipFill>
        <p:spPr>
          <a:xfrm>
            <a:off x="6400800" y="1645920"/>
            <a:ext cx="5029200" cy="37719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MODEL INTERPRETABILITY</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Explainable AI: SHAP Chemical Interpretability</a:t>
            </a:r>
          </a:p>
        </p:txBody>
      </p:sp>
      <p:sp>
        <p:nvSpPr>
          <p:cNvPr id="5" name="TextBox 4"/>
          <p:cNvSpPr txBox="1"/>
          <p:nvPr/>
        </p:nvSpPr>
        <p:spPr>
          <a:xfrm>
            <a:off x="731520" y="1645920"/>
            <a:ext cx="5303520" cy="4389120"/>
          </a:xfrm>
          <a:prstGeom prst="rect">
            <a:avLst/>
          </a:prstGeom>
          <a:noFill/>
        </p:spPr>
        <p:txBody>
          <a:bodyPr wrap="square">
            <a:spAutoFit/>
          </a:bodyPr>
          <a:lstStyle/>
          <a:p>
            <a:pPr>
              <a:defRPr sz="1600" b="1">
                <a:solidFill>
                  <a:srgbClr val="38BDF8"/>
                </a:solidFill>
              </a:defRPr>
            </a:pPr>
            <a:r>
              <a:t>Overcoming the 'Black Box' Critique:</a:t>
            </a:r>
          </a:p>
          <a:p>
            <a:pPr>
              <a:spcBef>
                <a:spcPts val="800"/>
              </a:spcBef>
              <a:defRPr sz="1150">
                <a:solidFill>
                  <a:srgbClr val="F8FAFC"/>
                </a:solidFill>
              </a:defRPr>
            </a:pPr>
            <a:r>
              <a:t>• Engineers rightfully distrust black-box ML models when plant safety and boiler efficiency are at stake.</a:t>
            </a:r>
          </a:p>
          <a:p>
            <a:pPr>
              <a:spcBef>
                <a:spcPts val="800"/>
              </a:spcBef>
              <a:defRPr sz="1150">
                <a:solidFill>
                  <a:srgbClr val="F8FAFC"/>
                </a:solidFill>
              </a:defRPr>
            </a:pPr>
            <a:r>
              <a:t>• We integrated SHAP (SHapley Additive exPlanations) using TreeExplainer to explain individual local predictions.</a:t>
            </a:r>
          </a:p>
          <a:p>
            <a:pPr>
              <a:spcBef>
                <a:spcPts val="800"/>
              </a:spcBef>
              <a:defRPr sz="1150">
                <a:solidFill>
                  <a:srgbClr val="F8FAFC"/>
                </a:solidFill>
              </a:defRPr>
            </a:pPr>
            <a:r>
              <a:t>• Thermodynamic Sanity Check:</a:t>
            </a:r>
            <a:br/>
            <a:r>
              <a:t>• Moisture: Strong negative SHAP driver (water absorbs heat via vaporization at 540 cal/g).</a:t>
            </a:r>
            <a:br/>
            <a:r>
              <a:t>• Ash: Strong negative SHAP driver (inert mineral matter acts as a thermal heat sink).</a:t>
            </a:r>
            <a:br/>
            <a:r>
              <a:t>• Fixed Carbon &amp; Fuel Ratio: Dominant positive drivers (primary energy-producing organic matrix).</a:t>
            </a:r>
          </a:p>
          <a:p>
            <a:pPr>
              <a:spcBef>
                <a:spcPts val="800"/>
              </a:spcBef>
              <a:defRPr sz="1150">
                <a:solidFill>
                  <a:srgbClr val="F8FAFC"/>
                </a:solidFill>
              </a:defRPr>
            </a:pPr>
            <a:r>
              <a:t>• The model's internal feature attribution perfectly validates established combustion thermodynamics.</a:t>
            </a:r>
          </a:p>
        </p:txBody>
      </p:sp>
      <p:pic>
        <p:nvPicPr>
          <p:cNvPr id="6" name="Picture 5" descr="shap_waterfall.png"/>
          <p:cNvPicPr>
            <a:picLocks noChangeAspect="1"/>
          </p:cNvPicPr>
          <p:nvPr/>
        </p:nvPicPr>
        <p:blipFill>
          <a:blip r:embed="rId2"/>
          <a:stretch>
            <a:fillRect/>
          </a:stretch>
        </p:blipFill>
        <p:spPr>
          <a:xfrm>
            <a:off x="6400800" y="1645920"/>
            <a:ext cx="5029200" cy="25146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SYSTEM DEPLOYMENT</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Interactive Streamlit Deployment &amp; Domain Guardrails</a:t>
            </a:r>
          </a:p>
        </p:txBody>
      </p:sp>
      <p:sp>
        <p:nvSpPr>
          <p:cNvPr id="5" name="Rounded Rectangle 4"/>
          <p:cNvSpPr/>
          <p:nvPr/>
        </p:nvSpPr>
        <p:spPr>
          <a:xfrm>
            <a:off x="731520" y="1645920"/>
            <a:ext cx="5120640" cy="201168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754880" cy="1737360"/>
          </a:xfrm>
          <a:prstGeom prst="rect">
            <a:avLst/>
          </a:prstGeom>
          <a:noFill/>
        </p:spPr>
        <p:txBody>
          <a:bodyPr wrap="square">
            <a:spAutoFit/>
          </a:bodyPr>
          <a:lstStyle/>
          <a:p>
            <a:pPr>
              <a:defRPr sz="1500" b="1">
                <a:solidFill>
                  <a:srgbClr val="38BDF8"/>
                </a:solidFill>
              </a:defRPr>
            </a:pPr>
            <a:r>
              <a:t>Dual-Tab Architecture</a:t>
            </a:r>
          </a:p>
          <a:p>
            <a:pPr>
              <a:spcBef>
                <a:spcPts val="800"/>
              </a:spcBef>
              <a:defRPr sz="1100">
                <a:solidFill>
                  <a:srgbClr val="F8FAFC"/>
                </a:solidFill>
              </a:defRPr>
            </a:pPr>
            <a:r>
              <a:t>• Tab 1: Universal Model (All coal ranks)</a:t>
            </a:r>
            <a:br/>
            <a:r>
              <a:t>• Tab 2: Bituminous Specialized Model (ASTM D388)</a:t>
            </a:r>
            <a:br/>
            <a:r>
              <a:t>Users seamlessly switch between general coal and high-precision bituminous mode.</a:t>
            </a:r>
          </a:p>
        </p:txBody>
      </p:sp>
      <p:sp>
        <p:nvSpPr>
          <p:cNvPr id="7" name="Rounded Rectangle 6"/>
          <p:cNvSpPr/>
          <p:nvPr/>
        </p:nvSpPr>
        <p:spPr>
          <a:xfrm>
            <a:off x="6126480" y="1645920"/>
            <a:ext cx="5120640" cy="2011680"/>
          </a:xfrm>
          <a:prstGeom prst="roundRect">
            <a:avLst/>
          </a:prstGeom>
          <a:solidFill>
            <a:srgbClr val="1E293B"/>
          </a:solidFill>
          <a:ln w="12700">
            <a:solidFill>
              <a:srgbClr val="FB923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09360" y="1783080"/>
            <a:ext cx="4754880" cy="1737360"/>
          </a:xfrm>
          <a:prstGeom prst="rect">
            <a:avLst/>
          </a:prstGeom>
          <a:noFill/>
        </p:spPr>
        <p:txBody>
          <a:bodyPr wrap="square">
            <a:spAutoFit/>
          </a:bodyPr>
          <a:lstStyle/>
          <a:p>
            <a:pPr>
              <a:defRPr sz="1500" b="1">
                <a:solidFill>
                  <a:srgbClr val="FB923C"/>
                </a:solidFill>
              </a:defRPr>
            </a:pPr>
            <a:r>
              <a:t>Domain-Specific Guardrails</a:t>
            </a:r>
          </a:p>
          <a:p>
            <a:pPr>
              <a:spcBef>
                <a:spcPts val="800"/>
              </a:spcBef>
              <a:defRPr sz="1100">
                <a:solidFill>
                  <a:srgbClr val="F8FAFC"/>
                </a:solidFill>
              </a:defRPr>
            </a:pPr>
            <a:r>
              <a:t>• Mass Balance Validation: Flags an immediate error if Moisture + VM + Ash &gt; 100%.</a:t>
            </a:r>
            <a:br/>
            <a:r>
              <a:t>• Ash Limit Rule: Rejects inputs exceeding realistic combustible limits (Ash &gt; 55%).</a:t>
            </a:r>
          </a:p>
        </p:txBody>
      </p:sp>
      <p:sp>
        <p:nvSpPr>
          <p:cNvPr id="9" name="Rounded Rectangle 8"/>
          <p:cNvSpPr/>
          <p:nvPr/>
        </p:nvSpPr>
        <p:spPr>
          <a:xfrm>
            <a:off x="731520" y="3931920"/>
            <a:ext cx="5120640" cy="2011680"/>
          </a:xfrm>
          <a:prstGeom prst="roundRect">
            <a:avLst/>
          </a:prstGeom>
          <a:solidFill>
            <a:srgbClr val="1E293B"/>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069080"/>
            <a:ext cx="4754880" cy="1737360"/>
          </a:xfrm>
          <a:prstGeom prst="rect">
            <a:avLst/>
          </a:prstGeom>
          <a:noFill/>
        </p:spPr>
        <p:txBody>
          <a:bodyPr wrap="square">
            <a:spAutoFit/>
          </a:bodyPr>
          <a:lstStyle/>
          <a:p>
            <a:pPr>
              <a:defRPr sz="1500" b="1">
                <a:solidFill>
                  <a:srgbClr val="34D399"/>
                </a:solidFill>
              </a:defRPr>
            </a:pPr>
            <a:r>
              <a:t>Real-Time Explainability</a:t>
            </a:r>
          </a:p>
          <a:p>
            <a:pPr>
              <a:spcBef>
                <a:spcPts val="800"/>
              </a:spcBef>
              <a:defRPr sz="1100">
                <a:solidFill>
                  <a:srgbClr val="F8FAFC"/>
                </a:solidFill>
              </a:defRPr>
            </a:pPr>
            <a:r>
              <a:t>Every slider adjustment instantly triggers model re-prediction and renders dynamic SHAP waterfall plots explaining the chemical drivers behind that specific prediction.</a:t>
            </a:r>
          </a:p>
        </p:txBody>
      </p:sp>
      <p:sp>
        <p:nvSpPr>
          <p:cNvPr id="11" name="Rounded Rectangle 10"/>
          <p:cNvSpPr/>
          <p:nvPr/>
        </p:nvSpPr>
        <p:spPr>
          <a:xfrm>
            <a:off x="6126480" y="3931920"/>
            <a:ext cx="5120640" cy="2011680"/>
          </a:xfrm>
          <a:prstGeom prst="roundRect">
            <a:avLst/>
          </a:prstGeom>
          <a:solidFill>
            <a:srgbClr val="1E293B"/>
          </a:solidFill>
          <a:ln w="1270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4069080"/>
            <a:ext cx="4754880" cy="1737360"/>
          </a:xfrm>
          <a:prstGeom prst="rect">
            <a:avLst/>
          </a:prstGeom>
          <a:noFill/>
        </p:spPr>
        <p:txBody>
          <a:bodyPr wrap="square">
            <a:spAutoFit/>
          </a:bodyPr>
          <a:lstStyle/>
          <a:p>
            <a:pPr>
              <a:defRPr sz="1500" b="1">
                <a:solidFill>
                  <a:srgbClr val="38BDF8"/>
                </a:solidFill>
              </a:defRPr>
            </a:pPr>
            <a:r>
              <a:t>Production Cloud Ready</a:t>
            </a:r>
          </a:p>
          <a:p>
            <a:pPr>
              <a:spcBef>
                <a:spcPts val="800"/>
              </a:spcBef>
              <a:defRPr sz="1100">
                <a:solidFill>
                  <a:srgbClr val="F8FAFC"/>
                </a:solidFill>
              </a:defRPr>
            </a:pPr>
            <a:r>
              <a:t>Deployed via Streamlit Community Cloud with GitHub CI/CD tracking main branch. Serialized models (&lt;20MB) load in sub-second inference speed.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365760"/>
          </a:xfrm>
          <a:prstGeom prst="rect">
            <a:avLst/>
          </a:prstGeom>
          <a:noFill/>
        </p:spPr>
        <p:txBody>
          <a:bodyPr wrap="none">
            <a:spAutoFit/>
          </a:bodyPr>
          <a:lstStyle/>
          <a:p>
            <a:pPr>
              <a:defRPr sz="1100" b="1">
                <a:solidFill>
                  <a:srgbClr val="38BDF8"/>
                </a:solidFill>
              </a:defRPr>
            </a:pPr>
            <a:r>
              <a:t>CONCLUSION &amp; ROADMAP</a:t>
            </a:r>
          </a:p>
        </p:txBody>
      </p:sp>
      <p:sp>
        <p:nvSpPr>
          <p:cNvPr id="4" name="TextBox 3"/>
          <p:cNvSpPr txBox="1"/>
          <p:nvPr/>
        </p:nvSpPr>
        <p:spPr>
          <a:xfrm>
            <a:off x="731520" y="640080"/>
            <a:ext cx="10698480" cy="731520"/>
          </a:xfrm>
          <a:prstGeom prst="rect">
            <a:avLst/>
          </a:prstGeom>
          <a:noFill/>
        </p:spPr>
        <p:txBody>
          <a:bodyPr wrap="none">
            <a:spAutoFit/>
          </a:bodyPr>
          <a:lstStyle/>
          <a:p>
            <a:pPr>
              <a:defRPr sz="2400" b="1">
                <a:solidFill>
                  <a:srgbClr val="F8FAFC"/>
                </a:solidFill>
              </a:defRPr>
            </a:pPr>
            <a:r>
              <a:t>Project Summary &amp; Future Research Directions</a:t>
            </a:r>
          </a:p>
        </p:txBody>
      </p:sp>
      <p:sp>
        <p:nvSpPr>
          <p:cNvPr id="5" name="Rounded Rectangle 4"/>
          <p:cNvSpPr/>
          <p:nvPr/>
        </p:nvSpPr>
        <p:spPr>
          <a:xfrm>
            <a:off x="731520" y="1645920"/>
            <a:ext cx="5120640" cy="438912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4754880" cy="4023360"/>
          </a:xfrm>
          <a:prstGeom prst="rect">
            <a:avLst/>
          </a:prstGeom>
          <a:noFill/>
        </p:spPr>
        <p:txBody>
          <a:bodyPr wrap="square">
            <a:spAutoFit/>
          </a:bodyPr>
          <a:lstStyle/>
          <a:p>
            <a:pPr>
              <a:defRPr sz="1700" b="1">
                <a:solidFill>
                  <a:srgbClr val="34D399"/>
                </a:solidFill>
              </a:defRPr>
            </a:pPr>
            <a:r>
              <a:t>Final Performance Summary:</a:t>
            </a:r>
          </a:p>
          <a:p>
            <a:pPr>
              <a:spcBef>
                <a:spcPts val="1000"/>
              </a:spcBef>
              <a:defRPr sz="1200">
                <a:solidFill>
                  <a:srgbClr val="F8FAFC"/>
                </a:solidFill>
              </a:defRPr>
            </a:pPr>
            <a:r>
              <a:t>Universal Stacking Model (All Ranks):</a:t>
            </a:r>
            <a:br/>
            <a:r>
              <a:t>• 5-Fold CV RMSE: 150.28 Kcal/kg</a:t>
            </a:r>
            <a:br/>
            <a:r>
              <a:t>• 5-Fold CV MAE: 105.97 Kcal/kg</a:t>
            </a:r>
            <a:br/>
            <a:r>
              <a:t>• Coefficient of Variation (CV): 2.18%</a:t>
            </a:r>
            <a:br/>
            <a:r>
              <a:t>• Variance Explained (R²): 0.9595</a:t>
            </a:r>
            <a:br/>
            <a:br/>
            <a:r>
              <a:t>Bituminous Specialized Model (ASTM D388):</a:t>
            </a:r>
            <a:br/>
            <a:r>
              <a:t>• 5-Fold CV RMSE: 134.18 Kcal/kg  (-16.10)</a:t>
            </a:r>
            <a:br/>
            <a:r>
              <a:t>• 5-Fold CV MAE: 96.29 Kcal/kg  (&lt;100!)</a:t>
            </a:r>
            <a:br/>
            <a:r>
              <a:t>• Coefficient of Variation (CV): 1.91%</a:t>
            </a:r>
            <a:br/>
            <a:r>
              <a:t>• Variance Explained (R²): 0.9524</a:t>
            </a:r>
          </a:p>
        </p:txBody>
      </p:sp>
      <p:sp>
        <p:nvSpPr>
          <p:cNvPr id="7" name="Rounded Rectangle 6"/>
          <p:cNvSpPr/>
          <p:nvPr/>
        </p:nvSpPr>
        <p:spPr>
          <a:xfrm>
            <a:off x="6217920" y="1645920"/>
            <a:ext cx="5212080" cy="438912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828800"/>
            <a:ext cx="4846320" cy="4023360"/>
          </a:xfrm>
          <a:prstGeom prst="rect">
            <a:avLst/>
          </a:prstGeom>
          <a:noFill/>
        </p:spPr>
        <p:txBody>
          <a:bodyPr wrap="square">
            <a:spAutoFit/>
          </a:bodyPr>
          <a:lstStyle/>
          <a:p>
            <a:pPr>
              <a:defRPr sz="1700" b="1">
                <a:solidFill>
                  <a:srgbClr val="38BDF8"/>
                </a:solidFill>
              </a:defRPr>
            </a:pPr>
            <a:r>
              <a:t>Future Research &amp; Engineering Scope:</a:t>
            </a:r>
          </a:p>
          <a:p>
            <a:pPr>
              <a:spcBef>
                <a:spcPts val="1000"/>
              </a:spcBef>
              <a:defRPr sz="1150">
                <a:solidFill>
                  <a:srgbClr val="F8FAFC"/>
                </a:solidFill>
              </a:defRPr>
            </a:pPr>
            <a:r>
              <a:t>1. Dual-Tier Elemental Analysis Mode:</a:t>
            </a:r>
            <a:br/>
            <a:r>
              <a:t>Ingest Ultimate Analysis (Carbon, Hydrogen, Oxygen, Sulfur) when available to drive RMSE below 50 Kcal/kg.</a:t>
            </a:r>
            <a:br/>
            <a:br/>
            <a:r>
              <a:t>2. Quantile Regression &amp; Uncertainty Bounds:</a:t>
            </a:r>
            <a:br/>
            <a:r>
              <a:t>Predict 90% confidence intervals around GCV values rather than point estimates to inform risk-aware procurement.</a:t>
            </a:r>
            <a:br/>
            <a:br/>
            <a:r>
              <a:t>3. High-Throughput Batch Processing:</a:t>
            </a:r>
            <a:br/>
            <a:r>
              <a:t>Enable bulk CSV uploads for trainload shipments with automated PDF laboratory certificates.</a:t>
            </a:r>
            <a:br/>
            <a:br/>
            <a:r>
              <a:t>4. Classical Formula Benchmarking:</a:t>
            </a:r>
            <a:br/>
            <a:r>
              <a:t>Provide direct mathematical comparisons against Goutal and Dulong empirical equations.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