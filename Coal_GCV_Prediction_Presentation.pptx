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64592" cy="25603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241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COAL GROSS CALORIFIC VALUE (GCV) PREDICTION</a:t>
            </a:r>
          </a:p>
          <a:p>
            <a:pPr>
              <a:spcBef>
                <a:spcPts val="1600"/>
              </a:spcBef>
              <a:defRPr sz="2100" b="1">
                <a:solidFill>
                  <a:srgbClr val="38BDF8"/>
                </a:solidFill>
              </a:defRPr>
            </a:pPr>
            <a:r>
              <a:t>High-Precision Estimation from Proximate Analysis via Bayesian-Tuned Stacking Ensembles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CONTEXT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Industrial Motivation &amp; Problem Formulation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923C"/>
                </a:solidFill>
              </a:defRPr>
            </a:pPr>
            <a:r>
              <a:t>The Laboratory Bottleneck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Standard bomb calorimetry requires oxygen-pressurized combustion bombs, calibrated water jackets, and skilled technicians.</a:t>
            </a:r>
            <a:br/>
            <a:br/>
            <a:r>
              <a:t>Result: 24–48 hour turnaround times delay critical coal blending decisions in power plants.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The Proximate Advantage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Proximate analysis (Moisture, Volatile Matter, Ash) is rapid, inexpensive, and standardized.</a:t>
            </a:r>
            <a:br/>
            <a:br/>
            <a:r>
              <a:t>Goal: Map proximate parameters directly to GCV with high fidelity, enabling immediate day-of-delivery decision making.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Rigorous Target Metrics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Target RMSE: &lt;= 200 Kcal/kg</a:t>
            </a:r>
            <a:br/>
            <a:r>
              <a:t>Target CV Score: &lt; 8.0%</a:t>
            </a:r>
            <a:br/>
            <a:br/>
            <a:r>
              <a:t>Our system surpassed both tolerances, delivering 150.28 Kcal/kg (2.18% CV) overall and 134.18 Kcal/kg (1.91% CV) for bituminous coal.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Data Hygiene &amp; Zero-Target-Leakage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1. Unit Standardization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Raw dataset contains imperial heating values in Btu/lb. Converted to international metric standard:</a:t>
            </a:r>
            <a:br/>
            <a:r>
              <a:t>GCV (Kcal/kg) = Btu / 1.8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2. Zero Target Leakage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In amateur ML workflows, imputers often fit across features AND target GCV. We enforced strict isolation: KNN imputation fits ONLY on features [Moisture, VM, Ash].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923C"/>
                </a:solidFill>
              </a:defRPr>
            </a:pPr>
            <a:r>
              <a:t>3. Physical Bounds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Enforced physical combustion realism:</a:t>
            </a:r>
            <a:br/>
            <a:r>
              <a:t>• GCV: 2000 to 9000 Kcal/kg</a:t>
            </a:r>
            <a:br/>
            <a:r>
              <a:t>• Standard Ash &lt;= 55%</a:t>
            </a:r>
            <a:br/>
            <a:r>
              <a:t>• Moisture &lt;= 45%, VM &lt;= 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4. Mass Balance Integrity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By proximate definition, components sum to 100%:</a:t>
            </a:r>
            <a:br/>
            <a:r>
              <a:t>Fixed Carbon = 100 - (Moisture + VM + Ash)</a:t>
            </a:r>
            <a:br/>
            <a:r>
              <a:t>Retained exclusively samples with Fixed Carbon &gt;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Domain Feature Engineering: Why Add Fuel Ratio?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923C"/>
                </a:solidFill>
              </a:defRPr>
            </a:pPr>
            <a:r>
              <a:t>The Mathematical Limitation of Tree Models: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Decision trees split orthogonally (Xi &gt; c). They cannot naturally compute division between features without hundreds of step-wise splits.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In coal petrology, the Fuel Ratio is defined as:</a:t>
            </a:r>
            <a:br/>
            <a:r>
              <a:t>Fuel Ratio = Fixed Carbon / Volatile Matter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Fuel Ratio is the universally accepted chemical proxy for coal rank (Anthracite vs Bituminous vs Lignite).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By calculating it explicitly prior to training, we feed the model an explicit rank descriptor without requiring extra lab testing.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Mass Balance Formulation: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FC = 100 - (Moisture + VM + Ash)</a:t>
            </a:r>
            <a:br/>
            <a:br/>
            <a:r>
              <a:t>Fuel Ratio = FC / VM</a:t>
            </a:r>
          </a:p>
          <a:p>
            <a:br/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Impact on Training:</a:t>
            </a:r>
            <a:br/>
            <a:r>
              <a:t>• Drastically simplifies tree depth requirements.</a:t>
            </a:r>
            <a:br/>
            <a:r>
              <a:t>• Enables shallow XGBoost trees (depth 4) to capture coal rank variations.</a:t>
            </a:r>
            <a:br/>
            <a:r>
              <a:t>• Consistently reduces CV error across all folds.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Quantitative Benchmarking: Proving Ensemble Superiority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5-Fold RMSE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5-Fold MAE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R²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Support Vector Machine (SVR)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612.45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487.12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0.3541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217.30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148.80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0.9168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154.84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109.12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0.9571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XGBoost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152.14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107.45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0.9585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Stacked Ensemble (Ours)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150.28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105.97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0.9595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model_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572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Stacking Ensemble Architecture &amp; SVR Normalization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28800"/>
            <a:ext cx="223113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Level-0: Random Forest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</a:defRPr>
            </a:pPr>
            <a:r>
              <a:t>Bagging Regressor (200 trees, max depth 15).</a:t>
            </a:r>
            <a:br/>
            <a:br/>
            <a:r>
              <a:t>Role: Smooths predictive variance by averaging across de-correlated bootstrapped subsets. Resilient to isolated lab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828800"/>
            <a:ext cx="223113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923C"/>
                </a:solidFill>
              </a:defRPr>
            </a:pPr>
            <a:r>
              <a:t>Level-0: XGBoost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</a:defRPr>
            </a:pPr>
            <a:r>
              <a:t>Gradient Boosted Trees (300 estimators, depth 4, lr 0.025).</a:t>
            </a:r>
            <a:br/>
            <a:br/>
            <a:r>
              <a:t>Role: Minimizes residual bias sequentially. Captures non-linear chemical interactions between moisture and 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828800"/>
            <a:ext cx="223113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Level-0: Scaled SVR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</a:defRPr>
            </a:pPr>
            <a:r>
              <a:t>Support Vector Regressor with RBF kernel.</a:t>
            </a:r>
            <a:br/>
            <a:br/>
            <a:r>
              <a:t>Key Solution: Wrapped inside TransformedTargetRegressor(StandardScaler) to normalize both inputs AND target GCV during kernel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8552" y="1828800"/>
            <a:ext cx="223113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Level-1: Ridge Meta-Learner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</a:defRPr>
            </a:pPr>
            <a:r>
              <a:t>Linear Meta-Regressor with L2 penalty.</a:t>
            </a:r>
            <a:br/>
            <a:br/>
            <a:r>
              <a:t>Role: Learns optimal blending weights from out-of-fold cross-validation predictions, preventing overfitting at the ensemble layer.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Bayesian Hyperparameter Optimization via Optuna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Why Bayesian Optimization over Grid Search?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Grid Search is computationally expensive and samples uninformative parameter regions.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Optuna utilizes Tree-structured Parzen Estimators (TPE) to model the probability distribution of 5-fold CV RMSE.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It concentrates evaluation trials where parameter combinations historically yield lower error.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Optimal parameters saved to models/best_params.json for transparent, reproducible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Tuned Hyperparameter Snapshot: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</a:defRPr>
            </a:pPr>
            <a:r>
              <a:t>XGBoost Regressor:</a:t>
            </a:r>
            <a:br/>
            <a:r>
              <a:t>• n_estimators = 300  |  max_depth = 4</a:t>
            </a:r>
            <a:br/>
            <a:r>
              <a:t>• learning_rate = 0.0256  |  subsample = 0.7</a:t>
            </a:r>
            <a:br/>
            <a:r>
              <a:t>• colsample_bytree = 0.8  |  min_child_weight = 2</a:t>
            </a:r>
            <a:br/>
            <a:br/>
            <a:r>
              <a:t>Random Forest Regressor:</a:t>
            </a:r>
            <a:br/>
            <a:r>
              <a:t>• n_estimators = 200  |  max_depth = 15</a:t>
            </a:r>
            <a:br/>
            <a:r>
              <a:t>• min_samples_leaf = 4  |  max_features = 0.7</a:t>
            </a:r>
            <a:br/>
            <a:br/>
            <a:r>
              <a:t>Support Vector Regressor (SVR):</a:t>
            </a:r>
            <a:br/>
            <a:r>
              <a:t>• C = 1.292  |  epsilon = 0.0857  |  gamma = 'auto'</a:t>
            </a:r>
            <a:br/>
            <a:br/>
            <a:r>
              <a:t>Stacking Meta-Learner (Ridge):</a:t>
            </a:r>
            <a:br/>
            <a:r>
              <a:t>• alpha = 0.0105  (Optimal L2 shrinkage)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RANK SPECIALIZATION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Coal Rank Specialization: ASTM D388 Bituminous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The Scientific Rationale for Rank Segregation: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• Coal is chemically non-homogeneous across geological ranks. Lignite, Bituminous, and Anthracite exhibit vastly different volatile release kinetics.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• Under ASTM D388, Bituminous Coal is strictly classified by:</a:t>
            </a:r>
            <a:br/>
            <a:r>
              <a:t>• Moist Mineral-Matter-Free Btu &gt;= 10,500 Btu/lb</a:t>
            </a:r>
            <a:br/>
            <a:r>
              <a:t>• Dry MMF Volatile Matter &gt;= 14.0%</a:t>
            </a:r>
            <a:br/>
            <a:r>
              <a:t>• Dry MMF Fixed Carbon &lt; 86.0%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• We isolated 4,494 verified bituminous samples and trained a dedicated model pipeline (src/train_bituminous.py).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• Performance Impact:</a:t>
            </a:r>
            <a:br/>
            <a:r>
              <a:t>• RMSE dropped to 134.18 Kcal/kg (vs 150.28)</a:t>
            </a:r>
            <a:br/>
            <a:r>
              <a:t>• MAE dropped to 96.29 Kcal/kg (sub-100 error!)</a:t>
            </a:r>
            <a:br/>
            <a:r>
              <a:t>• CV Score reached 1.91%</a:t>
            </a:r>
          </a:p>
        </p:txBody>
      </p:sp>
      <p:pic>
        <p:nvPicPr>
          <p:cNvPr id="6" name="Picture 5" descr="actual_vs_predicted_bitumin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MODEL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Explainable AI: SHAP Chemical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Overcoming the 'Black Box' Critique: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Engineers rightfully distrust black-box ML models when plant safety and boiler efficiency are at stake.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We integrated SHAP (SHapley Additive exPlanations) using TreeExplainer to explain individual local predictions.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Thermodynamic Sanity Check:</a:t>
            </a:r>
            <a:br/>
            <a:r>
              <a:t>• Moisture: Strong negative SHAP driver (water absorbs heat via vaporization at 540 cal/g).</a:t>
            </a:r>
            <a:br/>
            <a:r>
              <a:t>• Ash: Strong negative SHAP driver (inert mineral matter acts as a thermal heat sink).</a:t>
            </a:r>
            <a:br/>
            <a:r>
              <a:t>• Fixed Carbon &amp; Fuel Ratio: Dominant positive drivers (primary energy-producing organic matrix).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The model's internal feature attribution perfectly validates established combustion thermodynamics.</a:t>
            </a:r>
          </a:p>
        </p:txBody>
      </p:sp>
      <p:pic>
        <p:nvPicPr>
          <p:cNvPr id="6" name="Picture 5" descr="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Interactive Streamlit Deployment &amp; Domain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Dual-Tab Architecture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Tab 1: Universal Model (All coal ranks)</a:t>
            </a:r>
            <a:br/>
            <a:r>
              <a:t>• Tab 2: Bituminous Specialized Model (ASTM D388)</a:t>
            </a:r>
            <a:br/>
            <a:r>
              <a:t>Users seamlessly switch between general coal and high-precision bituminous mode.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923C"/>
                </a:solidFill>
              </a:defRPr>
            </a:pPr>
            <a:r>
              <a:t>Domain-Specific Guardrails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Mass Balance Validation: Flags an immediate error if Moisture + VM + Ash &gt; 100%.</a:t>
            </a:r>
            <a:br/>
            <a:r>
              <a:t>• Ash Limit Rule: Rejects inputs exceeding realistic combustible limits (Ash &gt; 55%).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Real-Time Explainability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Every slider adjustment instantly triggers model re-prediction and renders dynamic SHAP waterfall plots explaining the chemical drivers behind that specific prediction.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Production Cloud Ready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Deployed via Streamlit Community Cloud with GitHub CI/CD tracking main branch. Serialized models (&lt;20MB) load in sub-second inference speed.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Project Summary &amp; Future Research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Final Performance Summary:</a:t>
            </a:r>
          </a:p>
          <a:p>
            <a:pPr>
              <a:spcBef>
                <a:spcPts val="1000"/>
              </a:spcBef>
              <a:defRPr sz="1200">
                <a:solidFill>
                  <a:srgbClr val="FFFFFF"/>
                </a:solidFill>
              </a:defRPr>
            </a:pPr>
            <a:r>
              <a:t>Universal Stacking Model (All Ranks):</a:t>
            </a:r>
            <a:br/>
            <a:r>
              <a:t>• 5-Fold CV RMSE: 150.28 Kcal/kg</a:t>
            </a:r>
            <a:br/>
            <a:r>
              <a:t>• 5-Fold CV MAE: 105.97 Kcal/kg</a:t>
            </a:r>
            <a:br/>
            <a:r>
              <a:t>• Coefficient of Variation (CV): 2.18%</a:t>
            </a:r>
            <a:br/>
            <a:r>
              <a:t>• Variance Explained (R²): 0.9595</a:t>
            </a:r>
            <a:br/>
            <a:br/>
            <a:r>
              <a:t>Bituminous Specialized Model (ASTM D388):</a:t>
            </a:r>
            <a:br/>
            <a:r>
              <a:t>• 5-Fold CV RMSE: 134.18 Kcal/kg  (-16.10)</a:t>
            </a:r>
            <a:br/>
            <a:r>
              <a:t>• 5-Fold CV MAE: 96.29 Kcal/kg  (&lt;100!)</a:t>
            </a:r>
            <a:br/>
            <a:r>
              <a:t>• Coefficient of Variation (CV): 1.91%</a:t>
            </a:r>
            <a:br/>
            <a:r>
              <a:t>• Variance Explained (R²): 0.9524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Future Research &amp; Engineering Scope:</a:t>
            </a:r>
          </a:p>
          <a:p>
            <a:pPr>
              <a:spcBef>
                <a:spcPts val="1000"/>
              </a:spcBef>
              <a:defRPr sz="1200">
                <a:solidFill>
                  <a:srgbClr val="FFFFFF"/>
                </a:solidFill>
              </a:defRPr>
            </a:pPr>
            <a:r>
              <a:t>1. Dual-Tier Elemental Analysis Mode:</a:t>
            </a:r>
            <a:br/>
            <a:r>
              <a:t>Ingest Ultimate Analysis (Carbon, Hydrogen, Oxygen, Sulfur) when available to drive RMSE below 50 Kcal/kg.</a:t>
            </a:r>
            <a:br/>
            <a:br/>
            <a:r>
              <a:t>2. Quantile Regression &amp; Uncertainty Bounds:</a:t>
            </a:r>
            <a:br/>
            <a:r>
              <a:t>Predict 90% confidence intervals around GCV values rather than point estimates to inform risk-aware procurement.</a:t>
            </a:r>
            <a:br/>
            <a:br/>
            <a:r>
              <a:t>3. High-Throughput Batch Processing:</a:t>
            </a:r>
            <a:br/>
            <a:r>
              <a:t>Enable bulk CSV uploads for trainload shipments with automated PDF laboratory certificates.</a:t>
            </a:r>
            <a:br/>
            <a:br/>
            <a:r>
              <a:t>4. Classical Formula Benchmarking:</a:t>
            </a:r>
            <a:br/>
            <a:r>
              <a:t>Provide direct mathematical comparisons against Goutal and Dulong empirical equations.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